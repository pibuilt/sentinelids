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313" r:id="rId5"/>
    <p:sldId id="287" r:id="rId6"/>
    <p:sldId id="318" r:id="rId7"/>
    <p:sldId id="319" r:id="rId8"/>
    <p:sldId id="321" r:id="rId9"/>
    <p:sldId id="330" r:id="rId10"/>
    <p:sldId id="320" r:id="rId11"/>
    <p:sldId id="304" r:id="rId12"/>
    <p:sldId id="310" r:id="rId13"/>
    <p:sldId id="322" r:id="rId14"/>
    <p:sldId id="328" r:id="rId15"/>
    <p:sldId id="329" r:id="rId16"/>
    <p:sldId id="323" r:id="rId17"/>
    <p:sldId id="293" r:id="rId18"/>
    <p:sldId id="327" r:id="rId19"/>
    <p:sldId id="324" r:id="rId20"/>
    <p:sldId id="325" r:id="rId21"/>
    <p:sldId id="294" r:id="rId22"/>
    <p:sldId id="326" r:id="rId23"/>
    <p:sldId id="31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78" autoAdjust="0"/>
    <p:restoredTop sz="94619" autoAdjust="0"/>
  </p:normalViewPr>
  <p:slideViewPr>
    <p:cSldViewPr snapToGrid="0">
      <p:cViewPr varScale="1">
        <p:scale>
          <a:sx n="80" d="100"/>
          <a:sy n="80" d="100"/>
        </p:scale>
        <p:origin x="53"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9/6/2025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9/6/2025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9/6/2025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9/6/2025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9/6/2025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9/6/2025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9/6/2025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9/6/2025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9/6/2025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9/6/2025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9/6/2025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9/6/2025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26F6-A8C6-37B2-BF46-77F9DB1CEED1}"/>
              </a:ext>
            </a:extLst>
          </p:cNvPr>
          <p:cNvSpPr>
            <a:spLocks noGrp="1"/>
          </p:cNvSpPr>
          <p:nvPr>
            <p:ph type="ctrTitle"/>
          </p:nvPr>
        </p:nvSpPr>
        <p:spPr>
          <a:xfrm>
            <a:off x="1375983" y="2514599"/>
            <a:ext cx="9440034" cy="1828801"/>
          </a:xfrm>
        </p:spPr>
        <p:txBody>
          <a:bodyPr>
            <a:noAutofit/>
          </a:bodyPr>
          <a:lstStyle/>
          <a:p>
            <a:r>
              <a:rPr lang="en-US" sz="3500" b="1" dirty="0">
                <a:solidFill>
                  <a:schemeClr val="bg1"/>
                </a:solidFill>
                <a:effectLst/>
                <a:latin typeface="Bell MT" panose="02020503060305020303" pitchFamily="18" charset="0"/>
                <a:ea typeface="Calibri" panose="020F0502020204030204" pitchFamily="34" charset="0"/>
              </a:rPr>
              <a:t>Layered Security-Gradient Boosting meets Naive Bayes for Intrusion Detection</a:t>
            </a:r>
            <a:endParaRPr lang="en-IN" sz="3500" dirty="0">
              <a:latin typeface="Bell MT" panose="02020503060305020303" pitchFamily="18" charset="0"/>
            </a:endParaRPr>
          </a:p>
        </p:txBody>
      </p:sp>
      <p:sp>
        <p:nvSpPr>
          <p:cNvPr id="3" name="Subtitle 2">
            <a:extLst>
              <a:ext uri="{FF2B5EF4-FFF2-40B4-BE49-F238E27FC236}">
                <a16:creationId xmlns:a16="http://schemas.microsoft.com/office/drawing/2014/main" id="{B0075487-DD11-14BB-1130-1130E6938545}"/>
              </a:ext>
            </a:extLst>
          </p:cNvPr>
          <p:cNvSpPr>
            <a:spLocks noGrp="1"/>
          </p:cNvSpPr>
          <p:nvPr>
            <p:ph type="subTitle" idx="1"/>
          </p:nvPr>
        </p:nvSpPr>
        <p:spPr>
          <a:xfrm>
            <a:off x="1375983" y="2635935"/>
            <a:ext cx="9440034" cy="1049867"/>
          </a:xfrm>
        </p:spPr>
        <p:txBody>
          <a:bodyPr>
            <a:normAutofit/>
          </a:bodyPr>
          <a:lstStyle/>
          <a:p>
            <a:r>
              <a:rPr lang="en-IN" sz="3000" dirty="0">
                <a:solidFill>
                  <a:schemeClr val="bg1"/>
                </a:solidFill>
              </a:rPr>
              <a:t>Paper ID : 670</a:t>
            </a:r>
          </a:p>
        </p:txBody>
      </p:sp>
      <p:sp>
        <p:nvSpPr>
          <p:cNvPr id="4" name="Subtitle 2">
            <a:extLst>
              <a:ext uri="{FF2B5EF4-FFF2-40B4-BE49-F238E27FC236}">
                <a16:creationId xmlns:a16="http://schemas.microsoft.com/office/drawing/2014/main" id="{4CDBA5BC-1D2C-953E-FAB1-F1055A629C43}"/>
              </a:ext>
            </a:extLst>
          </p:cNvPr>
          <p:cNvSpPr txBox="1">
            <a:spLocks/>
          </p:cNvSpPr>
          <p:nvPr/>
        </p:nvSpPr>
        <p:spPr>
          <a:xfrm>
            <a:off x="1375983" y="750594"/>
            <a:ext cx="9440034" cy="196934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23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21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ctr">
              <a:lnSpc>
                <a:spcPts val="1875"/>
              </a:lnSpc>
              <a:spcBef>
                <a:spcPts val="750"/>
              </a:spcBef>
              <a:spcAft>
                <a:spcPts val="750"/>
              </a:spcAft>
            </a:pPr>
            <a:r>
              <a:rPr lang="en-IN" sz="3200" b="1" i="0" dirty="0">
                <a:solidFill>
                  <a:schemeClr val="bg1"/>
                </a:solidFill>
                <a:effectLst/>
                <a:latin typeface="Candara" panose="020E0502030303020204" pitchFamily="34" charset="0"/>
              </a:rPr>
              <a:t>6</a:t>
            </a:r>
            <a:r>
              <a:rPr lang="en-IN" sz="3200" b="1" i="0" baseline="30000" dirty="0">
                <a:solidFill>
                  <a:schemeClr val="bg1"/>
                </a:solidFill>
                <a:effectLst/>
                <a:latin typeface="Candara" panose="020E0502030303020204" pitchFamily="34" charset="0"/>
              </a:rPr>
              <a:t>th</a:t>
            </a:r>
            <a:r>
              <a:rPr lang="en-IN" sz="3200" b="1" i="0" dirty="0">
                <a:solidFill>
                  <a:schemeClr val="bg1"/>
                </a:solidFill>
                <a:effectLst/>
                <a:latin typeface="Candara" panose="020E0502030303020204" pitchFamily="34" charset="0"/>
              </a:rPr>
              <a:t> Congress on Intelligent Systems </a:t>
            </a:r>
          </a:p>
          <a:p>
            <a:pPr algn="ctr">
              <a:lnSpc>
                <a:spcPts val="1875"/>
              </a:lnSpc>
              <a:spcBef>
                <a:spcPts val="750"/>
              </a:spcBef>
              <a:spcAft>
                <a:spcPts val="750"/>
              </a:spcAft>
            </a:pPr>
            <a:r>
              <a:rPr lang="en-IN" sz="3200" b="1" i="0" dirty="0">
                <a:solidFill>
                  <a:schemeClr val="bg1"/>
                </a:solidFill>
                <a:effectLst/>
                <a:latin typeface="Candara" panose="020E0502030303020204" pitchFamily="34" charset="0"/>
              </a:rPr>
              <a:t> (CIS 2025)</a:t>
            </a:r>
          </a:p>
          <a:p>
            <a:pPr>
              <a:lnSpc>
                <a:spcPts val="1875"/>
              </a:lnSpc>
              <a:spcBef>
                <a:spcPts val="750"/>
              </a:spcBef>
              <a:spcAft>
                <a:spcPts val="750"/>
              </a:spcAft>
            </a:pPr>
            <a:endParaRPr lang="en-IN" sz="2400" b="1" i="0" dirty="0">
              <a:solidFill>
                <a:srgbClr val="FFFFFF"/>
              </a:solidFill>
              <a:effectLst/>
              <a:latin typeface="Nunito" pitchFamily="2" charset="0"/>
            </a:endParaRPr>
          </a:p>
          <a:p>
            <a:pPr>
              <a:lnSpc>
                <a:spcPts val="1875"/>
              </a:lnSpc>
              <a:spcBef>
                <a:spcPts val="750"/>
              </a:spcBef>
              <a:spcAft>
                <a:spcPts val="750"/>
              </a:spcAft>
            </a:pPr>
            <a:r>
              <a:rPr lang="en-IN" sz="2400" b="1" i="0" dirty="0">
                <a:solidFill>
                  <a:schemeClr val="bg1"/>
                </a:solidFill>
                <a:effectLst/>
                <a:latin typeface="Nunito" pitchFamily="2" charset="0"/>
              </a:rPr>
              <a:t>September 6-7, 2025</a:t>
            </a:r>
          </a:p>
        </p:txBody>
      </p:sp>
      <p:sp>
        <p:nvSpPr>
          <p:cNvPr id="5" name="Subtitle 2">
            <a:extLst>
              <a:ext uri="{FF2B5EF4-FFF2-40B4-BE49-F238E27FC236}">
                <a16:creationId xmlns:a16="http://schemas.microsoft.com/office/drawing/2014/main" id="{93A7FF3B-17AA-0BF3-8EF9-613BFF625F4E}"/>
              </a:ext>
            </a:extLst>
          </p:cNvPr>
          <p:cNvSpPr txBox="1">
            <a:spLocks/>
          </p:cNvSpPr>
          <p:nvPr/>
        </p:nvSpPr>
        <p:spPr>
          <a:xfrm>
            <a:off x="7353300" y="4464736"/>
            <a:ext cx="5339142" cy="20978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23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21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IN" sz="2200" dirty="0">
                <a:solidFill>
                  <a:schemeClr val="bg1"/>
                </a:solidFill>
                <a:effectLst/>
              </a:rPr>
              <a:t>K. Srinivasa Chakravarthy</a:t>
            </a:r>
          </a:p>
          <a:p>
            <a:pPr algn="l"/>
            <a:r>
              <a:rPr lang="en-IN" sz="2200" dirty="0">
                <a:solidFill>
                  <a:schemeClr val="bg1"/>
                </a:solidFill>
                <a:effectLst/>
              </a:rPr>
              <a:t>Dr. G. Shyama Chandra Prasad</a:t>
            </a:r>
          </a:p>
          <a:p>
            <a:pPr algn="l"/>
            <a:r>
              <a:rPr lang="en-IN" sz="2200" dirty="0">
                <a:solidFill>
                  <a:schemeClr val="bg1"/>
                </a:solidFill>
                <a:effectLst/>
              </a:rPr>
              <a:t>V. Krishna Sai Srinivas</a:t>
            </a:r>
          </a:p>
          <a:p>
            <a:pPr algn="l"/>
            <a:r>
              <a:rPr lang="en-IN" sz="2200" dirty="0">
                <a:solidFill>
                  <a:schemeClr val="bg1"/>
                </a:solidFill>
                <a:effectLst/>
              </a:rPr>
              <a:t>Piyush Bhuyan</a:t>
            </a:r>
          </a:p>
          <a:p>
            <a:endParaRPr lang="en-IN" sz="2200" dirty="0">
              <a:solidFill>
                <a:schemeClr val="bg1"/>
              </a:solidFill>
              <a:effectLst/>
            </a:endParaRPr>
          </a:p>
          <a:p>
            <a:endParaRPr lang="en-IN" sz="2200" dirty="0">
              <a:solidFill>
                <a:schemeClr val="bg1"/>
              </a:solidFill>
              <a:effectLst/>
            </a:endParaRPr>
          </a:p>
        </p:txBody>
      </p:sp>
    </p:spTree>
    <p:extLst>
      <p:ext uri="{BB962C8B-B14F-4D97-AF65-F5344CB8AC3E}">
        <p14:creationId xmlns:p14="http://schemas.microsoft.com/office/powerpoint/2010/main" val="390986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0625A-0671-2FE5-6860-839D04B2AD1A}"/>
              </a:ext>
            </a:extLst>
          </p:cNvPr>
          <p:cNvSpPr>
            <a:spLocks noGrp="1"/>
          </p:cNvSpPr>
          <p:nvPr>
            <p:ph type="title"/>
          </p:nvPr>
        </p:nvSpPr>
        <p:spPr/>
        <p:txBody>
          <a:bodyPr>
            <a:normAutofit/>
          </a:bodyPr>
          <a:lstStyle/>
          <a:p>
            <a:pPr algn="l"/>
            <a:r>
              <a:rPr lang="en-US" sz="4100" dirty="0">
                <a:solidFill>
                  <a:schemeClr val="bg1"/>
                </a:solidFill>
              </a:rPr>
              <a:t>INTRODUCTION</a:t>
            </a:r>
            <a:endParaRPr lang="en-IN" sz="4100" dirty="0">
              <a:solidFill>
                <a:schemeClr val="bg1"/>
              </a:solidFill>
            </a:endParaRPr>
          </a:p>
        </p:txBody>
      </p:sp>
      <p:sp>
        <p:nvSpPr>
          <p:cNvPr id="3" name="Content Placeholder 2">
            <a:extLst>
              <a:ext uri="{FF2B5EF4-FFF2-40B4-BE49-F238E27FC236}">
                <a16:creationId xmlns:a16="http://schemas.microsoft.com/office/drawing/2014/main" id="{75A7586D-698E-4799-7732-522ACA6484AC}"/>
              </a:ext>
            </a:extLst>
          </p:cNvPr>
          <p:cNvSpPr>
            <a:spLocks noGrp="1"/>
          </p:cNvSpPr>
          <p:nvPr>
            <p:ph idx="1"/>
          </p:nvPr>
        </p:nvSpPr>
        <p:spPr>
          <a:xfrm>
            <a:off x="913795" y="1866900"/>
            <a:ext cx="10353762" cy="4638674"/>
          </a:xfrm>
        </p:spPr>
        <p:txBody>
          <a:bodyPr>
            <a:normAutofit/>
          </a:bodyPr>
          <a:lstStyle/>
          <a:p>
            <a:r>
              <a:rPr lang="en-US" sz="2200" dirty="0">
                <a:solidFill>
                  <a:schemeClr val="tx2">
                    <a:lumMod val="10000"/>
                  </a:schemeClr>
                </a:solidFill>
                <a:effectLst/>
              </a:rPr>
              <a:t>The report addresses the limitations of existing Intrusion Detection Systems (IDS) in detecting complex and rare attack types, proposing an enhanced Double-Layered Hybrid Approach (DLHA) that replaces SVM with Gradient Boosting algorithms like </a:t>
            </a:r>
            <a:r>
              <a:rPr lang="en-US" sz="2200" dirty="0" err="1">
                <a:solidFill>
                  <a:schemeClr val="tx2">
                    <a:lumMod val="10000"/>
                  </a:schemeClr>
                </a:solidFill>
                <a:effectLst/>
              </a:rPr>
              <a:t>XGBoost</a:t>
            </a:r>
            <a:r>
              <a:rPr lang="en-US" sz="2200" dirty="0">
                <a:solidFill>
                  <a:schemeClr val="tx2">
                    <a:lumMod val="10000"/>
                  </a:schemeClr>
                </a:solidFill>
                <a:effectLst/>
              </a:rPr>
              <a:t>.</a:t>
            </a:r>
          </a:p>
          <a:p>
            <a:r>
              <a:rPr lang="en-US" sz="2200" dirty="0">
                <a:solidFill>
                  <a:schemeClr val="tx2">
                    <a:lumMod val="10000"/>
                  </a:schemeClr>
                </a:solidFill>
                <a:effectLst/>
              </a:rPr>
              <a:t>It reviews literature on modular IDS architectures, deep learning-based systems, and hybrid approaches, highlighting their strengths and limitations, while emphasizing the need for scalable, accurate, and adaptive frameworks.</a:t>
            </a:r>
          </a:p>
          <a:p>
            <a:r>
              <a:rPr lang="en-US" sz="2200" dirty="0">
                <a:solidFill>
                  <a:schemeClr val="tx2">
                    <a:lumMod val="10000"/>
                  </a:schemeClr>
                </a:solidFill>
                <a:effectLst/>
              </a:rPr>
              <a:t>The proposed methodology integrates GANs for rare class augmentation, uses Naive Bayes for frequent attacks in Layer 1, and employs </a:t>
            </a:r>
            <a:r>
              <a:rPr lang="en-US" sz="2200" dirty="0" err="1">
                <a:solidFill>
                  <a:schemeClr val="tx2">
                    <a:lumMod val="10000"/>
                  </a:schemeClr>
                </a:solidFill>
                <a:effectLst/>
              </a:rPr>
              <a:t>XGBoost</a:t>
            </a:r>
            <a:r>
              <a:rPr lang="en-US" sz="2200" dirty="0">
                <a:solidFill>
                  <a:schemeClr val="tx2">
                    <a:lumMod val="10000"/>
                  </a:schemeClr>
                </a:solidFill>
                <a:effectLst/>
              </a:rPr>
              <a:t> for rare attacks in Layer 2, ensuring improved detection rates, reduced false alarms, and better adaptability to evolving threats.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6619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7537C1-EFF7-A6AF-3471-A4CE50EB5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39731-D704-3066-54CD-1A19F14AB4DA}"/>
              </a:ext>
            </a:extLst>
          </p:cNvPr>
          <p:cNvSpPr>
            <a:spLocks noGrp="1"/>
          </p:cNvSpPr>
          <p:nvPr>
            <p:ph type="title"/>
          </p:nvPr>
        </p:nvSpPr>
        <p:spPr/>
        <p:txBody>
          <a:bodyPr>
            <a:normAutofit/>
          </a:bodyPr>
          <a:lstStyle/>
          <a:p>
            <a:pPr algn="l"/>
            <a:r>
              <a:rPr lang="en-IN" sz="4100" dirty="0">
                <a:solidFill>
                  <a:schemeClr val="bg1"/>
                </a:solidFill>
              </a:rPr>
              <a:t>MOTIVATION</a:t>
            </a:r>
          </a:p>
        </p:txBody>
      </p:sp>
      <p:sp>
        <p:nvSpPr>
          <p:cNvPr id="3" name="Content Placeholder 2">
            <a:extLst>
              <a:ext uri="{FF2B5EF4-FFF2-40B4-BE49-F238E27FC236}">
                <a16:creationId xmlns:a16="http://schemas.microsoft.com/office/drawing/2014/main" id="{686BBA61-58BD-4610-970B-1BCD987E8943}"/>
              </a:ext>
            </a:extLst>
          </p:cNvPr>
          <p:cNvSpPr>
            <a:spLocks noGrp="1"/>
          </p:cNvSpPr>
          <p:nvPr>
            <p:ph idx="1"/>
          </p:nvPr>
        </p:nvSpPr>
        <p:spPr>
          <a:xfrm>
            <a:off x="913795" y="1866900"/>
            <a:ext cx="10353762" cy="4638674"/>
          </a:xfrm>
        </p:spPr>
        <p:txBody>
          <a:bodyPr>
            <a:normAutofit fontScale="92500" lnSpcReduction="10000"/>
          </a:bodyPr>
          <a:lstStyle/>
          <a:p>
            <a:r>
              <a:rPr lang="en-US" sz="2400" dirty="0">
                <a:solidFill>
                  <a:schemeClr val="tx2">
                    <a:lumMod val="10000"/>
                  </a:schemeClr>
                </a:solidFill>
                <a:effectLst/>
              </a:rPr>
              <a:t>Timely detection of cyberattacks remains a major research challenge, as legacy systems struggle to address advanced methods like R2L and U2R, which closely mimic normal traffic patterns and pose significant threats to critical sectors like healthcare, finance, and the military.</a:t>
            </a:r>
          </a:p>
          <a:p>
            <a:r>
              <a:rPr lang="en-US" sz="2400" dirty="0">
                <a:solidFill>
                  <a:schemeClr val="tx2">
                    <a:lumMod val="10000"/>
                  </a:schemeClr>
                </a:solidFill>
                <a:effectLst/>
              </a:rPr>
              <a:t>Support Vector Machines (SVM), while commonly used in IDS frameworks, are computationally expensive, require precise hyperparameter tuning, and perform poorly on imbalanced datasets, making them less effective for detecting rare attacks in real-time scenarios.</a:t>
            </a:r>
          </a:p>
          <a:p>
            <a:r>
              <a:rPr lang="en-US" sz="2400" dirty="0">
                <a:solidFill>
                  <a:schemeClr val="tx2">
                    <a:lumMod val="10000"/>
                  </a:schemeClr>
                </a:solidFill>
                <a:effectLst/>
              </a:rPr>
              <a:t>Gradient Boosting algorithms, such as </a:t>
            </a:r>
            <a:r>
              <a:rPr lang="en-US" sz="2400" dirty="0" err="1">
                <a:solidFill>
                  <a:schemeClr val="tx2">
                    <a:lumMod val="10000"/>
                  </a:schemeClr>
                </a:solidFill>
                <a:effectLst/>
              </a:rPr>
              <a:t>XGBoost</a:t>
            </a:r>
            <a:r>
              <a:rPr lang="en-US" sz="2400" dirty="0">
                <a:solidFill>
                  <a:schemeClr val="tx2">
                    <a:lumMod val="10000"/>
                  </a:schemeClr>
                </a:solidFill>
                <a:effectLst/>
              </a:rPr>
              <a:t> and </a:t>
            </a:r>
            <a:r>
              <a:rPr lang="en-US" sz="2400" dirty="0" err="1">
                <a:solidFill>
                  <a:schemeClr val="tx2">
                    <a:lumMod val="10000"/>
                  </a:schemeClr>
                </a:solidFill>
                <a:effectLst/>
              </a:rPr>
              <a:t>LightGBM</a:t>
            </a:r>
            <a:r>
              <a:rPr lang="en-US" sz="2400" dirty="0">
                <a:solidFill>
                  <a:schemeClr val="tx2">
                    <a:lumMod val="10000"/>
                  </a:schemeClr>
                </a:solidFill>
                <a:effectLst/>
              </a:rPr>
              <a:t>, offer a superior alternative by improving accuracy, efficiently handling class imbalances, and providing explainability through feature importance, making them ideal for building scalable and robust IDS frameworks to detect rare and complex attack types.</a:t>
            </a:r>
          </a:p>
          <a:p>
            <a:pPr marL="36900" indent="0">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375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05FC4C-B833-1970-DD72-3F10FC7C3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DE0EF-5BB5-579E-EBF7-2495602E7C40}"/>
              </a:ext>
            </a:extLst>
          </p:cNvPr>
          <p:cNvSpPr>
            <a:spLocks noGrp="1"/>
          </p:cNvSpPr>
          <p:nvPr>
            <p:ph type="title"/>
          </p:nvPr>
        </p:nvSpPr>
        <p:spPr/>
        <p:txBody>
          <a:bodyPr>
            <a:normAutofit/>
          </a:bodyPr>
          <a:lstStyle/>
          <a:p>
            <a:pPr algn="l"/>
            <a:r>
              <a:rPr lang="en-IN" sz="4100" dirty="0">
                <a:solidFill>
                  <a:schemeClr val="bg1"/>
                </a:solidFill>
              </a:rPr>
              <a:t>DATASET DESCRIPTION </a:t>
            </a:r>
          </a:p>
        </p:txBody>
      </p:sp>
      <p:sp>
        <p:nvSpPr>
          <p:cNvPr id="3" name="Content Placeholder 2">
            <a:extLst>
              <a:ext uri="{FF2B5EF4-FFF2-40B4-BE49-F238E27FC236}">
                <a16:creationId xmlns:a16="http://schemas.microsoft.com/office/drawing/2014/main" id="{9B3FFE3C-9CF8-D020-AE93-F3D3D902FF23}"/>
              </a:ext>
            </a:extLst>
          </p:cNvPr>
          <p:cNvSpPr>
            <a:spLocks noGrp="1"/>
          </p:cNvSpPr>
          <p:nvPr>
            <p:ph idx="1"/>
          </p:nvPr>
        </p:nvSpPr>
        <p:spPr>
          <a:xfrm>
            <a:off x="913795" y="1866900"/>
            <a:ext cx="10353762" cy="4638674"/>
          </a:xfrm>
        </p:spPr>
        <p:txBody>
          <a:bodyPr>
            <a:normAutofit/>
          </a:bodyPr>
          <a:lstStyle/>
          <a:p>
            <a:r>
              <a:rPr lang="en-US" sz="2200" dirty="0">
                <a:solidFill>
                  <a:schemeClr val="tx2">
                    <a:lumMod val="10000"/>
                  </a:schemeClr>
                </a:solidFill>
                <a:effectLst/>
              </a:rPr>
              <a:t>The NSL-KDD dataset is an improved version of KDD99, removing redundant records and balancing classes. It includes attack types like DoS, Probe, R2L, U2R, and normal traffic for better intrusion detection evaluation. </a:t>
            </a:r>
          </a:p>
          <a:p>
            <a:r>
              <a:rPr lang="en-US" sz="2200" dirty="0">
                <a:solidFill>
                  <a:schemeClr val="tx2">
                    <a:lumMod val="10000"/>
                  </a:schemeClr>
                </a:solidFill>
                <a:effectLst/>
              </a:rPr>
              <a:t>The KDD-Train dataset has total of 125973 entries. Among those, the majority classes are Normal, DoS and the minority classes are R2L, U2R.</a:t>
            </a:r>
          </a:p>
          <a:p>
            <a:r>
              <a:rPr lang="en-US" altLang="en-US" sz="2200" dirty="0">
                <a:solidFill>
                  <a:schemeClr val="tx2">
                    <a:lumMod val="10000"/>
                  </a:schemeClr>
                </a:solidFill>
                <a:effectLst/>
              </a:rPr>
              <a:t>Denial of Service (DoS) – Overwhelms systems with traffic to make them unavailable</a:t>
            </a:r>
            <a:br>
              <a:rPr lang="en-US" altLang="en-US" sz="2200" dirty="0">
                <a:solidFill>
                  <a:schemeClr val="tx2">
                    <a:lumMod val="10000"/>
                  </a:schemeClr>
                </a:solidFill>
                <a:effectLst/>
              </a:rPr>
            </a:br>
            <a:r>
              <a:rPr lang="en-US" sz="2200" dirty="0">
                <a:solidFill>
                  <a:schemeClr val="tx2">
                    <a:lumMod val="10000"/>
                  </a:schemeClr>
                </a:solidFill>
                <a:effectLst/>
              </a:rPr>
              <a:t>Probe – Gathers information about systems through scanning.</a:t>
            </a:r>
            <a:br>
              <a:rPr lang="en-US" sz="2200" dirty="0">
                <a:solidFill>
                  <a:schemeClr val="tx2">
                    <a:lumMod val="10000"/>
                  </a:schemeClr>
                </a:solidFill>
                <a:effectLst/>
              </a:rPr>
            </a:br>
            <a:r>
              <a:rPr lang="en-US" sz="2200" dirty="0">
                <a:solidFill>
                  <a:schemeClr val="tx2">
                    <a:lumMod val="10000"/>
                  </a:schemeClr>
                </a:solidFill>
                <a:effectLst/>
              </a:rPr>
              <a:t>Remote-to-Local (R2L) – Gains unauthorized local access from a remote location.</a:t>
            </a:r>
            <a:br>
              <a:rPr lang="en-US" sz="2200" dirty="0">
                <a:solidFill>
                  <a:schemeClr val="tx2">
                    <a:lumMod val="10000"/>
                  </a:schemeClr>
                </a:solidFill>
                <a:effectLst/>
              </a:rPr>
            </a:br>
            <a:r>
              <a:rPr lang="en-US" sz="2200" dirty="0">
                <a:solidFill>
                  <a:schemeClr val="tx2">
                    <a:lumMod val="10000"/>
                  </a:schemeClr>
                </a:solidFill>
                <a:effectLst/>
              </a:rPr>
              <a:t>User-to-Root (U2R) – Elevates privileges from a normal user to root access.</a:t>
            </a:r>
            <a:br>
              <a:rPr lang="en-US" sz="2200" dirty="0">
                <a:solidFill>
                  <a:schemeClr val="tx2">
                    <a:lumMod val="10000"/>
                  </a:schemeClr>
                </a:solidFill>
                <a:effectLst/>
              </a:rPr>
            </a:br>
            <a:r>
              <a:rPr lang="en-US" sz="2200" dirty="0">
                <a:solidFill>
                  <a:schemeClr val="tx2">
                    <a:lumMod val="10000"/>
                  </a:schemeClr>
                </a:solidFill>
                <a:effectLst/>
              </a:rPr>
              <a:t>Normal – Represents regular, legitimate network traffic with no malicious activity.</a:t>
            </a:r>
          </a:p>
        </p:txBody>
      </p:sp>
    </p:spTree>
    <p:extLst>
      <p:ext uri="{BB962C8B-B14F-4D97-AF65-F5344CB8AC3E}">
        <p14:creationId xmlns:p14="http://schemas.microsoft.com/office/powerpoint/2010/main" val="241958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1A0F244-AB71-B0F3-7397-D6F2693E3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BFF9B-2C07-9171-2B07-162731AED3F7}"/>
              </a:ext>
            </a:extLst>
          </p:cNvPr>
          <p:cNvSpPr>
            <a:spLocks noGrp="1"/>
          </p:cNvSpPr>
          <p:nvPr>
            <p:ph type="title"/>
          </p:nvPr>
        </p:nvSpPr>
        <p:spPr>
          <a:xfrm>
            <a:off x="913795" y="496033"/>
            <a:ext cx="10353762" cy="1257300"/>
          </a:xfrm>
        </p:spPr>
        <p:txBody>
          <a:bodyPr>
            <a:normAutofit/>
          </a:bodyPr>
          <a:lstStyle/>
          <a:p>
            <a:pPr algn="l"/>
            <a:r>
              <a:rPr lang="en-IN" sz="4100" dirty="0">
                <a:solidFill>
                  <a:schemeClr val="bg1"/>
                </a:solidFill>
              </a:rPr>
              <a:t>DATASET DESCRIPTION </a:t>
            </a:r>
          </a:p>
        </p:txBody>
      </p:sp>
      <p:sp>
        <p:nvSpPr>
          <p:cNvPr id="3" name="Content Placeholder 2">
            <a:extLst>
              <a:ext uri="{FF2B5EF4-FFF2-40B4-BE49-F238E27FC236}">
                <a16:creationId xmlns:a16="http://schemas.microsoft.com/office/drawing/2014/main" id="{FD8F1AAF-E0C1-1BB7-63AE-52BB8485EDA0}"/>
              </a:ext>
            </a:extLst>
          </p:cNvPr>
          <p:cNvSpPr>
            <a:spLocks noGrp="1"/>
          </p:cNvSpPr>
          <p:nvPr>
            <p:ph idx="1"/>
          </p:nvPr>
        </p:nvSpPr>
        <p:spPr>
          <a:xfrm>
            <a:off x="913795" y="1753333"/>
            <a:ext cx="10353762" cy="4638674"/>
          </a:xfrm>
        </p:spPr>
        <p:txBody>
          <a:bodyPr>
            <a:noAutofit/>
          </a:bodyPr>
          <a:lstStyle/>
          <a:p>
            <a:pPr marL="0" indent="0" defTabSz="914400" eaLnBrk="0" fontAlgn="base" hangingPunct="0">
              <a:lnSpc>
                <a:spcPct val="100000"/>
              </a:lnSpc>
              <a:spcBef>
                <a:spcPct val="0"/>
              </a:spcBef>
              <a:spcAft>
                <a:spcPct val="0"/>
              </a:spcAft>
              <a:buClrTx/>
              <a:buSzTx/>
              <a:buNone/>
            </a:pPr>
            <a:r>
              <a:rPr lang="en-US" sz="2000" dirty="0">
                <a:solidFill>
                  <a:schemeClr val="tx2">
                    <a:lumMod val="10000"/>
                  </a:schemeClr>
                </a:solidFill>
                <a:effectLst/>
              </a:rPr>
              <a:t>The dataset’s features are grouped into categories to better understand how network behavior and potential threats are analyzed.</a:t>
            </a:r>
          </a:p>
          <a:p>
            <a:pPr marL="0" indent="0" defTabSz="914400" eaLnBrk="0" fontAlgn="base" hangingPunct="0">
              <a:lnSpc>
                <a:spcPct val="100000"/>
              </a:lnSpc>
              <a:spcBef>
                <a:spcPct val="0"/>
              </a:spcBef>
              <a:spcAft>
                <a:spcPct val="0"/>
              </a:spcAft>
              <a:buClrTx/>
              <a:buSzTx/>
              <a:buNone/>
            </a:pPr>
            <a:br>
              <a:rPr lang="en-US" sz="2000" dirty="0">
                <a:solidFill>
                  <a:schemeClr val="tx2">
                    <a:lumMod val="10000"/>
                  </a:schemeClr>
                </a:solidFill>
                <a:effectLst/>
              </a:rPr>
            </a:br>
            <a:r>
              <a:rPr lang="en-US" sz="2000" dirty="0">
                <a:solidFill>
                  <a:schemeClr val="tx2">
                    <a:lumMod val="10000"/>
                  </a:schemeClr>
                </a:solidFill>
                <a:effectLst/>
              </a:rPr>
              <a:t>1. </a:t>
            </a:r>
            <a:r>
              <a:rPr lang="en-US" altLang="en-US" sz="2000" dirty="0">
                <a:solidFill>
                  <a:schemeClr val="tx2">
                    <a:lumMod val="10000"/>
                  </a:schemeClr>
                </a:solidFill>
                <a:effectLst/>
              </a:rPr>
              <a:t>Basic Connection Features</a:t>
            </a:r>
          </a:p>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These features describe the fundamental details of the network connection, such as its protocol, service type, and basic packet information. For example, </a:t>
            </a:r>
            <a:r>
              <a:rPr lang="en-US" altLang="en-US" sz="2000" dirty="0" err="1">
                <a:solidFill>
                  <a:schemeClr val="tx2">
                    <a:lumMod val="10000"/>
                  </a:schemeClr>
                </a:solidFill>
                <a:effectLst/>
              </a:rPr>
              <a:t>protocol_type</a:t>
            </a:r>
            <a:r>
              <a:rPr lang="en-US" altLang="en-US" sz="2000" dirty="0">
                <a:solidFill>
                  <a:schemeClr val="tx2">
                    <a:lumMod val="10000"/>
                  </a:schemeClr>
                </a:solidFill>
                <a:effectLst/>
              </a:rPr>
              <a:t> can be </a:t>
            </a:r>
            <a:r>
              <a:rPr lang="en-US" altLang="en-US" sz="2000" dirty="0" err="1">
                <a:solidFill>
                  <a:schemeClr val="tx2">
                    <a:lumMod val="10000"/>
                  </a:schemeClr>
                </a:solidFill>
                <a:effectLst/>
              </a:rPr>
              <a:t>tcp</a:t>
            </a:r>
            <a:r>
              <a:rPr lang="en-US" altLang="en-US" sz="2000" dirty="0">
                <a:solidFill>
                  <a:schemeClr val="tx2">
                    <a:lumMod val="10000"/>
                  </a:schemeClr>
                </a:solidFill>
                <a:effectLst/>
              </a:rPr>
              <a:t> or </a:t>
            </a:r>
            <a:r>
              <a:rPr lang="en-US" altLang="en-US" sz="2000" dirty="0" err="1">
                <a:solidFill>
                  <a:schemeClr val="tx2">
                    <a:lumMod val="10000"/>
                  </a:schemeClr>
                </a:solidFill>
                <a:effectLst/>
              </a:rPr>
              <a:t>udp</a:t>
            </a:r>
            <a:r>
              <a:rPr lang="en-US" altLang="en-US" sz="2000" dirty="0">
                <a:solidFill>
                  <a:schemeClr val="tx2">
                    <a:lumMod val="10000"/>
                  </a:schemeClr>
                </a:solidFill>
                <a:effectLst/>
              </a:rPr>
              <a:t>, service can be http or ftp, and flag can be SF or S0.</a:t>
            </a:r>
          </a:p>
          <a:p>
            <a:pPr marL="0" lvl="0" indent="0" defTabSz="914400" eaLnBrk="0" fontAlgn="base" hangingPunct="0">
              <a:lnSpc>
                <a:spcPct val="100000"/>
              </a:lnSpc>
              <a:spcBef>
                <a:spcPct val="0"/>
              </a:spcBef>
              <a:spcAft>
                <a:spcPct val="0"/>
              </a:spcAft>
              <a:buClrTx/>
              <a:buSzTx/>
              <a:buNone/>
            </a:pPr>
            <a:br>
              <a:rPr lang="en-US" altLang="en-US" sz="2000" dirty="0">
                <a:solidFill>
                  <a:schemeClr val="tx2">
                    <a:lumMod val="10000"/>
                  </a:schemeClr>
                </a:solidFill>
                <a:effectLst/>
              </a:rPr>
            </a:br>
            <a:r>
              <a:rPr lang="en-US" altLang="en-US" sz="2000" dirty="0">
                <a:solidFill>
                  <a:schemeClr val="tx2">
                    <a:lumMod val="10000"/>
                  </a:schemeClr>
                </a:solidFill>
                <a:effectLst/>
              </a:rPr>
              <a:t>2. Content Features</a:t>
            </a:r>
          </a:p>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These features capture suspicious behaviors by analyzing the content of the connection, like login attempts or unusual commands executed. For instance, </a:t>
            </a:r>
            <a:r>
              <a:rPr lang="en-US" altLang="en-US" sz="2000" dirty="0" err="1">
                <a:solidFill>
                  <a:schemeClr val="tx2">
                    <a:lumMod val="10000"/>
                  </a:schemeClr>
                </a:solidFill>
                <a:effectLst/>
              </a:rPr>
              <a:t>num_failed_logins</a:t>
            </a:r>
            <a:r>
              <a:rPr lang="en-US" altLang="en-US" sz="2000" dirty="0">
                <a:solidFill>
                  <a:schemeClr val="tx2">
                    <a:lumMod val="10000"/>
                  </a:schemeClr>
                </a:solidFill>
                <a:effectLst/>
              </a:rPr>
              <a:t> may be 0 or 3, </a:t>
            </a:r>
            <a:r>
              <a:rPr lang="en-US" altLang="en-US" sz="2000" dirty="0" err="1">
                <a:solidFill>
                  <a:schemeClr val="tx2">
                    <a:lumMod val="10000"/>
                  </a:schemeClr>
                </a:solidFill>
                <a:effectLst/>
              </a:rPr>
              <a:t>root_shell</a:t>
            </a:r>
            <a:r>
              <a:rPr lang="en-US" altLang="en-US" sz="2000" dirty="0">
                <a:solidFill>
                  <a:schemeClr val="tx2">
                    <a:lumMod val="10000"/>
                  </a:schemeClr>
                </a:solidFill>
                <a:effectLst/>
              </a:rPr>
              <a:t> may be 0 or 1, and </a:t>
            </a:r>
            <a:r>
              <a:rPr lang="en-US" altLang="en-US" sz="2000" dirty="0" err="1">
                <a:solidFill>
                  <a:schemeClr val="tx2">
                    <a:lumMod val="10000"/>
                  </a:schemeClr>
                </a:solidFill>
                <a:effectLst/>
              </a:rPr>
              <a:t>num_file_creations</a:t>
            </a:r>
            <a:r>
              <a:rPr lang="en-US" altLang="en-US" sz="2000" dirty="0">
                <a:solidFill>
                  <a:schemeClr val="tx2">
                    <a:lumMod val="10000"/>
                  </a:schemeClr>
                </a:solidFill>
                <a:effectLst/>
              </a:rPr>
              <a:t> can be 2 or 5.</a:t>
            </a:r>
          </a:p>
        </p:txBody>
      </p:sp>
    </p:spTree>
    <p:extLst>
      <p:ext uri="{BB962C8B-B14F-4D97-AF65-F5344CB8AC3E}">
        <p14:creationId xmlns:p14="http://schemas.microsoft.com/office/powerpoint/2010/main" val="3588656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40C694-6F17-F27F-8848-301E092F1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14685-96A5-50E7-B351-FC95459693A9}"/>
              </a:ext>
            </a:extLst>
          </p:cNvPr>
          <p:cNvSpPr>
            <a:spLocks noGrp="1"/>
          </p:cNvSpPr>
          <p:nvPr>
            <p:ph type="title"/>
          </p:nvPr>
        </p:nvSpPr>
        <p:spPr>
          <a:xfrm>
            <a:off x="913795" y="636710"/>
            <a:ext cx="10353762" cy="1257300"/>
          </a:xfrm>
        </p:spPr>
        <p:txBody>
          <a:bodyPr>
            <a:normAutofit/>
          </a:bodyPr>
          <a:lstStyle/>
          <a:p>
            <a:pPr algn="l"/>
            <a:r>
              <a:rPr lang="en-IN" sz="4100" dirty="0">
                <a:solidFill>
                  <a:schemeClr val="bg1"/>
                </a:solidFill>
              </a:rPr>
              <a:t>DATASET DESCRIPTION </a:t>
            </a:r>
          </a:p>
        </p:txBody>
      </p:sp>
      <p:sp>
        <p:nvSpPr>
          <p:cNvPr id="3" name="Content Placeholder 2">
            <a:extLst>
              <a:ext uri="{FF2B5EF4-FFF2-40B4-BE49-F238E27FC236}">
                <a16:creationId xmlns:a16="http://schemas.microsoft.com/office/drawing/2014/main" id="{62ACAB94-0CEF-49AC-B095-86B8B5926B6D}"/>
              </a:ext>
            </a:extLst>
          </p:cNvPr>
          <p:cNvSpPr>
            <a:spLocks noGrp="1"/>
          </p:cNvSpPr>
          <p:nvPr>
            <p:ph idx="1"/>
          </p:nvPr>
        </p:nvSpPr>
        <p:spPr>
          <a:xfrm>
            <a:off x="913795" y="1981201"/>
            <a:ext cx="10353762" cy="4638674"/>
          </a:xfrm>
        </p:spPr>
        <p:txBody>
          <a:bodyPr>
            <a:noAutofit/>
          </a:bodyPr>
          <a:lstStyle/>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3. Traffic Features (Based on Time Window)</a:t>
            </a:r>
          </a:p>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These features describe patterns in traffic volume and error rates over a specific time period, helping detect anomalies. For example, count may be 5 or 20, </a:t>
            </a:r>
            <a:r>
              <a:rPr lang="en-US" altLang="en-US" sz="2000" dirty="0" err="1">
                <a:solidFill>
                  <a:schemeClr val="tx2">
                    <a:lumMod val="10000"/>
                  </a:schemeClr>
                </a:solidFill>
                <a:effectLst/>
              </a:rPr>
              <a:t>srv_count</a:t>
            </a:r>
            <a:r>
              <a:rPr lang="en-US" altLang="en-US" sz="2000" dirty="0">
                <a:solidFill>
                  <a:schemeClr val="tx2">
                    <a:lumMod val="10000"/>
                  </a:schemeClr>
                </a:solidFill>
                <a:effectLst/>
              </a:rPr>
              <a:t> may be 10 or 50, and </a:t>
            </a:r>
            <a:r>
              <a:rPr lang="en-US" altLang="en-US" sz="2000" dirty="0" err="1">
                <a:solidFill>
                  <a:schemeClr val="tx2">
                    <a:lumMod val="10000"/>
                  </a:schemeClr>
                </a:solidFill>
                <a:effectLst/>
              </a:rPr>
              <a:t>serror_rate</a:t>
            </a:r>
            <a:r>
              <a:rPr lang="en-US" altLang="en-US" sz="2000" dirty="0">
                <a:solidFill>
                  <a:schemeClr val="tx2">
                    <a:lumMod val="10000"/>
                  </a:schemeClr>
                </a:solidFill>
                <a:effectLst/>
              </a:rPr>
              <a:t> can be 0.0 or 0.33.</a:t>
            </a:r>
          </a:p>
          <a:p>
            <a:pPr marL="0" lvl="0" indent="0" defTabSz="914400" eaLnBrk="0" fontAlgn="base" hangingPunct="0">
              <a:lnSpc>
                <a:spcPct val="100000"/>
              </a:lnSpc>
              <a:spcBef>
                <a:spcPct val="0"/>
              </a:spcBef>
              <a:spcAft>
                <a:spcPct val="0"/>
              </a:spcAft>
              <a:buClrTx/>
              <a:buSzTx/>
              <a:buNone/>
            </a:pPr>
            <a:endParaRPr lang="en-US" altLang="en-US" sz="2000" dirty="0">
              <a:solidFill>
                <a:schemeClr val="tx2">
                  <a:lumMod val="10000"/>
                </a:schemeClr>
              </a:solidFill>
              <a:effectLst/>
            </a:endParaRPr>
          </a:p>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4. Host-Based Traffic Features</a:t>
            </a:r>
          </a:p>
          <a:p>
            <a:pPr marL="0" lvl="0" indent="0" defTabSz="914400" eaLnBrk="0" fontAlgn="base" hangingPunct="0">
              <a:lnSpc>
                <a:spcPct val="100000"/>
              </a:lnSpc>
              <a:spcBef>
                <a:spcPct val="0"/>
              </a:spcBef>
              <a:spcAft>
                <a:spcPct val="0"/>
              </a:spcAft>
              <a:buClrTx/>
              <a:buSzTx/>
              <a:buNone/>
            </a:pPr>
            <a:r>
              <a:rPr lang="en-US" altLang="en-US" sz="2000" dirty="0">
                <a:solidFill>
                  <a:schemeClr val="tx2">
                    <a:lumMod val="10000"/>
                  </a:schemeClr>
                </a:solidFill>
                <a:effectLst/>
              </a:rPr>
              <a:t>These describe the behavior and interaction patterns of the destination host, such as traffic counts, error rates, and connection similarities. For instance, </a:t>
            </a:r>
            <a:r>
              <a:rPr lang="en-US" altLang="en-US" sz="2000" dirty="0" err="1">
                <a:solidFill>
                  <a:schemeClr val="tx2">
                    <a:lumMod val="10000"/>
                  </a:schemeClr>
                </a:solidFill>
                <a:effectLst/>
              </a:rPr>
              <a:t>dst_host_count</a:t>
            </a:r>
            <a:r>
              <a:rPr lang="en-US" altLang="en-US" sz="2000" dirty="0">
                <a:solidFill>
                  <a:schemeClr val="tx2">
                    <a:lumMod val="10000"/>
                  </a:schemeClr>
                </a:solidFill>
                <a:effectLst/>
              </a:rPr>
              <a:t> may be 255 or 100, </a:t>
            </a:r>
            <a:r>
              <a:rPr lang="en-US" altLang="en-US" sz="2000" dirty="0" err="1">
                <a:solidFill>
                  <a:schemeClr val="tx2">
                    <a:lumMod val="10000"/>
                  </a:schemeClr>
                </a:solidFill>
                <a:effectLst/>
              </a:rPr>
              <a:t>dst_host_srv_count</a:t>
            </a:r>
            <a:r>
              <a:rPr lang="en-US" altLang="en-US" sz="2000" dirty="0">
                <a:solidFill>
                  <a:schemeClr val="tx2">
                    <a:lumMod val="10000"/>
                  </a:schemeClr>
                </a:solidFill>
                <a:effectLst/>
              </a:rPr>
              <a:t> may be 200 or 50, and </a:t>
            </a:r>
            <a:r>
              <a:rPr lang="en-US" altLang="en-US" sz="2000" dirty="0" err="1">
                <a:solidFill>
                  <a:schemeClr val="tx2">
                    <a:lumMod val="10000"/>
                  </a:schemeClr>
                </a:solidFill>
                <a:effectLst/>
              </a:rPr>
              <a:t>dst_host_same_srv_rate</a:t>
            </a:r>
            <a:r>
              <a:rPr lang="en-US" altLang="en-US" sz="2000" dirty="0">
                <a:solidFill>
                  <a:schemeClr val="tx2">
                    <a:lumMod val="10000"/>
                  </a:schemeClr>
                </a:solidFill>
                <a:effectLst/>
              </a:rPr>
              <a:t> can be 1.0 or 0.5.</a:t>
            </a:r>
          </a:p>
        </p:txBody>
      </p:sp>
    </p:spTree>
    <p:extLst>
      <p:ext uri="{BB962C8B-B14F-4D97-AF65-F5344CB8AC3E}">
        <p14:creationId xmlns:p14="http://schemas.microsoft.com/office/powerpoint/2010/main" val="2440704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A5474E-1308-0F88-A8F2-849C98673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EBF22-2CBC-73C7-8956-379D8E14FCA2}"/>
              </a:ext>
            </a:extLst>
          </p:cNvPr>
          <p:cNvSpPr>
            <a:spLocks noGrp="1"/>
          </p:cNvSpPr>
          <p:nvPr>
            <p:ph type="title"/>
          </p:nvPr>
        </p:nvSpPr>
        <p:spPr/>
        <p:txBody>
          <a:bodyPr>
            <a:normAutofit/>
          </a:bodyPr>
          <a:lstStyle/>
          <a:p>
            <a:pPr algn="l"/>
            <a:r>
              <a:rPr lang="en-IN" sz="4100" dirty="0">
                <a:solidFill>
                  <a:schemeClr val="bg1"/>
                </a:solidFill>
              </a:rPr>
              <a:t>LIMITATIONS</a:t>
            </a:r>
          </a:p>
        </p:txBody>
      </p:sp>
      <p:sp>
        <p:nvSpPr>
          <p:cNvPr id="3" name="Content Placeholder 2">
            <a:extLst>
              <a:ext uri="{FF2B5EF4-FFF2-40B4-BE49-F238E27FC236}">
                <a16:creationId xmlns:a16="http://schemas.microsoft.com/office/drawing/2014/main" id="{FEA55C8A-A36B-D61C-3439-F587D5C38405}"/>
              </a:ext>
            </a:extLst>
          </p:cNvPr>
          <p:cNvSpPr>
            <a:spLocks noGrp="1"/>
          </p:cNvSpPr>
          <p:nvPr>
            <p:ph idx="1"/>
          </p:nvPr>
        </p:nvSpPr>
        <p:spPr/>
        <p:txBody>
          <a:bodyPr>
            <a:normAutofit/>
          </a:bodyPr>
          <a:lstStyle/>
          <a:p>
            <a:r>
              <a:rPr lang="en-US" sz="2200" dirty="0">
                <a:solidFill>
                  <a:schemeClr val="tx2">
                    <a:lumMod val="10000"/>
                  </a:schemeClr>
                </a:solidFill>
                <a:effectLst/>
              </a:rPr>
              <a:t>While DLHA performed well for common attacks like DoS and Probe, it faced challenges with rare attacks such as R2L and U2R, resulting in higher false negative rates due to severe class imbalance in the training dataset. </a:t>
            </a:r>
          </a:p>
          <a:p>
            <a:r>
              <a:rPr lang="en-US" sz="2200" dirty="0">
                <a:solidFill>
                  <a:schemeClr val="tx2">
                    <a:lumMod val="10000"/>
                  </a:schemeClr>
                </a:solidFill>
                <a:effectLst/>
              </a:rPr>
              <a:t>The lack of advanced post-processing filter algorithms contributed to a high False Alarm Rate (FAR), negatively impacting the overall system performance. </a:t>
            </a:r>
          </a:p>
          <a:p>
            <a:r>
              <a:rPr lang="en-US" sz="2200" dirty="0">
                <a:solidFill>
                  <a:schemeClr val="tx2">
                    <a:lumMod val="10000"/>
                  </a:schemeClr>
                </a:solidFill>
                <a:effectLst/>
              </a:rPr>
              <a:t>Future enhancements could involve data augmentation techniques to address class imbalance and integrate spam-filtering mechanisms to reduce FAR, thereby improving the system's robustness and scalability for real-world scenarios.</a:t>
            </a:r>
          </a:p>
        </p:txBody>
      </p:sp>
    </p:spTree>
    <p:extLst>
      <p:ext uri="{BB962C8B-B14F-4D97-AF65-F5344CB8AC3E}">
        <p14:creationId xmlns:p14="http://schemas.microsoft.com/office/powerpoint/2010/main" val="1608775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64A3F00-D7A5-854E-E062-6F28BD48A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E82B4-3529-D648-915F-84C7BC587599}"/>
              </a:ext>
            </a:extLst>
          </p:cNvPr>
          <p:cNvSpPr>
            <a:spLocks noGrp="1"/>
          </p:cNvSpPr>
          <p:nvPr>
            <p:ph type="title"/>
          </p:nvPr>
        </p:nvSpPr>
        <p:spPr/>
        <p:txBody>
          <a:bodyPr>
            <a:normAutofit/>
          </a:bodyPr>
          <a:lstStyle/>
          <a:p>
            <a:pPr algn="l"/>
            <a:r>
              <a:rPr lang="en-IN" sz="4100" dirty="0">
                <a:solidFill>
                  <a:schemeClr val="bg1"/>
                </a:solidFill>
              </a:rPr>
              <a:t>OBJECTIVES</a:t>
            </a:r>
          </a:p>
        </p:txBody>
      </p:sp>
      <p:sp>
        <p:nvSpPr>
          <p:cNvPr id="3" name="Content Placeholder 2">
            <a:extLst>
              <a:ext uri="{FF2B5EF4-FFF2-40B4-BE49-F238E27FC236}">
                <a16:creationId xmlns:a16="http://schemas.microsoft.com/office/drawing/2014/main" id="{B2D672ED-84CC-BAC2-36CB-BFDF06269A18}"/>
              </a:ext>
            </a:extLst>
          </p:cNvPr>
          <p:cNvSpPr>
            <a:spLocks noGrp="1"/>
          </p:cNvSpPr>
          <p:nvPr>
            <p:ph idx="1"/>
          </p:nvPr>
        </p:nvSpPr>
        <p:spPr/>
        <p:txBody>
          <a:bodyPr>
            <a:normAutofit/>
          </a:bodyPr>
          <a:lstStyle/>
          <a:p>
            <a:r>
              <a:rPr lang="en-US" sz="2200" dirty="0">
                <a:solidFill>
                  <a:schemeClr val="tx2">
                    <a:lumMod val="10000"/>
                  </a:schemeClr>
                </a:solidFill>
                <a:effectLst/>
              </a:rPr>
              <a:t>Improve the detection of rare attack types such as U2R and R2L using advanced techniques.</a:t>
            </a:r>
          </a:p>
          <a:p>
            <a:r>
              <a:rPr lang="en-US" sz="2200" dirty="0">
                <a:solidFill>
                  <a:schemeClr val="tx2">
                    <a:lumMod val="10000"/>
                  </a:schemeClr>
                </a:solidFill>
                <a:effectLst/>
              </a:rPr>
              <a:t>Augment the existing KDD dataset by generating additional samples to enhance training for better attack recognition.</a:t>
            </a:r>
            <a:endParaRPr lang="en-US" altLang="en-US" sz="2200" dirty="0">
              <a:solidFill>
                <a:schemeClr val="tx2">
                  <a:lumMod val="10000"/>
                </a:schemeClr>
              </a:solidFill>
              <a:effectLst/>
            </a:endParaRPr>
          </a:p>
          <a:p>
            <a:r>
              <a:rPr lang="en-US" sz="2200" dirty="0">
                <a:solidFill>
                  <a:schemeClr val="tx2">
                    <a:lumMod val="10000"/>
                  </a:schemeClr>
                </a:solidFill>
                <a:effectLst/>
              </a:rPr>
              <a:t>Reduce computational overhead by optimizing algorithms, making attack detection faster and more efficient in resource usage.</a:t>
            </a:r>
            <a:endParaRPr lang="en-US" altLang="en-US" sz="2200" dirty="0">
              <a:solidFill>
                <a:schemeClr val="tx2">
                  <a:lumMod val="10000"/>
                </a:schemeClr>
              </a:solidFill>
              <a:effectLst/>
            </a:endParaRPr>
          </a:p>
          <a:p>
            <a:endParaRPr lang="en-IN" dirty="0">
              <a:solidFill>
                <a:schemeClr val="bg1"/>
              </a:solidFill>
            </a:endParaRPr>
          </a:p>
        </p:txBody>
      </p:sp>
    </p:spTree>
    <p:extLst>
      <p:ext uri="{BB962C8B-B14F-4D97-AF65-F5344CB8AC3E}">
        <p14:creationId xmlns:p14="http://schemas.microsoft.com/office/powerpoint/2010/main" val="954996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FC4069-487D-1376-0BAF-638A020BA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876F2-F7E2-44CC-7468-60F56050CDED}"/>
              </a:ext>
            </a:extLst>
          </p:cNvPr>
          <p:cNvSpPr>
            <a:spLocks noGrp="1"/>
          </p:cNvSpPr>
          <p:nvPr>
            <p:ph type="title"/>
          </p:nvPr>
        </p:nvSpPr>
        <p:spPr>
          <a:xfrm>
            <a:off x="0" y="-266700"/>
            <a:ext cx="10353762" cy="1257300"/>
          </a:xfrm>
        </p:spPr>
        <p:txBody>
          <a:bodyPr>
            <a:normAutofit/>
          </a:bodyPr>
          <a:lstStyle/>
          <a:p>
            <a:pPr algn="l"/>
            <a:r>
              <a:rPr lang="en-IN" sz="4100" dirty="0">
                <a:solidFill>
                  <a:schemeClr val="bg1"/>
                </a:solidFill>
              </a:rPr>
              <a:t>        SYSTEM ARCHITECTURE DIAGRAM</a:t>
            </a:r>
          </a:p>
        </p:txBody>
      </p:sp>
      <p:sp>
        <p:nvSpPr>
          <p:cNvPr id="4" name="Content Placeholder 3">
            <a:extLst>
              <a:ext uri="{FF2B5EF4-FFF2-40B4-BE49-F238E27FC236}">
                <a16:creationId xmlns:a16="http://schemas.microsoft.com/office/drawing/2014/main" id="{2F1A9075-6C2E-E475-C275-385FB27D4042}"/>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E6571B07-8E4C-59A9-0F1E-39511F3C1E7C}"/>
              </a:ext>
            </a:extLst>
          </p:cNvPr>
          <p:cNvPicPr>
            <a:picLocks noChangeAspect="1"/>
          </p:cNvPicPr>
          <p:nvPr/>
        </p:nvPicPr>
        <p:blipFill>
          <a:blip r:embed="rId2"/>
          <a:stretch>
            <a:fillRect/>
          </a:stretch>
        </p:blipFill>
        <p:spPr>
          <a:xfrm>
            <a:off x="311956" y="808940"/>
            <a:ext cx="6288609" cy="5676900"/>
          </a:xfrm>
          <a:prstGeom prst="rect">
            <a:avLst/>
          </a:prstGeom>
        </p:spPr>
      </p:pic>
      <p:sp>
        <p:nvSpPr>
          <p:cNvPr id="9" name="TextBox 8">
            <a:extLst>
              <a:ext uri="{FF2B5EF4-FFF2-40B4-BE49-F238E27FC236}">
                <a16:creationId xmlns:a16="http://schemas.microsoft.com/office/drawing/2014/main" id="{4D0C8C89-B63C-61A2-EE71-2CB491711FE6}"/>
              </a:ext>
            </a:extLst>
          </p:cNvPr>
          <p:cNvSpPr txBox="1"/>
          <p:nvPr/>
        </p:nvSpPr>
        <p:spPr>
          <a:xfrm>
            <a:off x="266700" y="990600"/>
            <a:ext cx="1666875" cy="646331"/>
          </a:xfrm>
          <a:prstGeom prst="rect">
            <a:avLst/>
          </a:prstGeom>
          <a:noFill/>
        </p:spPr>
        <p:txBody>
          <a:bodyPr wrap="square" rtlCol="0">
            <a:spAutoFit/>
          </a:bodyPr>
          <a:lstStyle/>
          <a:p>
            <a:r>
              <a:rPr lang="en-IN" b="1" dirty="0">
                <a:solidFill>
                  <a:schemeClr val="bg1"/>
                </a:solidFill>
              </a:rPr>
              <a:t>Data</a:t>
            </a:r>
          </a:p>
          <a:p>
            <a:r>
              <a:rPr lang="en-IN" b="1" dirty="0">
                <a:solidFill>
                  <a:schemeClr val="bg1"/>
                </a:solidFill>
              </a:rPr>
              <a:t>Augmentation</a:t>
            </a:r>
          </a:p>
        </p:txBody>
      </p:sp>
      <p:sp>
        <p:nvSpPr>
          <p:cNvPr id="11" name="TextBox 10">
            <a:extLst>
              <a:ext uri="{FF2B5EF4-FFF2-40B4-BE49-F238E27FC236}">
                <a16:creationId xmlns:a16="http://schemas.microsoft.com/office/drawing/2014/main" id="{05A19F1F-461C-B420-F696-810778999A66}"/>
              </a:ext>
            </a:extLst>
          </p:cNvPr>
          <p:cNvSpPr txBox="1"/>
          <p:nvPr/>
        </p:nvSpPr>
        <p:spPr>
          <a:xfrm>
            <a:off x="266700" y="3124200"/>
            <a:ext cx="1666875" cy="646331"/>
          </a:xfrm>
          <a:prstGeom prst="rect">
            <a:avLst/>
          </a:prstGeom>
          <a:noFill/>
        </p:spPr>
        <p:txBody>
          <a:bodyPr wrap="square" rtlCol="0">
            <a:spAutoFit/>
          </a:bodyPr>
          <a:lstStyle/>
          <a:p>
            <a:r>
              <a:rPr lang="en-IN" b="1" dirty="0">
                <a:solidFill>
                  <a:schemeClr val="bg1"/>
                </a:solidFill>
              </a:rPr>
              <a:t>Data</a:t>
            </a:r>
          </a:p>
          <a:p>
            <a:r>
              <a:rPr lang="en-IN" b="1" dirty="0">
                <a:solidFill>
                  <a:schemeClr val="bg1"/>
                </a:solidFill>
              </a:rPr>
              <a:t>Preparation</a:t>
            </a:r>
          </a:p>
        </p:txBody>
      </p:sp>
      <p:sp>
        <p:nvSpPr>
          <p:cNvPr id="12" name="TextBox 11">
            <a:extLst>
              <a:ext uri="{FF2B5EF4-FFF2-40B4-BE49-F238E27FC236}">
                <a16:creationId xmlns:a16="http://schemas.microsoft.com/office/drawing/2014/main" id="{AB2BF94F-8DF5-88EC-87FF-25D21EEFFB37}"/>
              </a:ext>
            </a:extLst>
          </p:cNvPr>
          <p:cNvSpPr txBox="1"/>
          <p:nvPr/>
        </p:nvSpPr>
        <p:spPr>
          <a:xfrm>
            <a:off x="266700" y="4981575"/>
            <a:ext cx="1666875" cy="646331"/>
          </a:xfrm>
          <a:prstGeom prst="rect">
            <a:avLst/>
          </a:prstGeom>
          <a:noFill/>
        </p:spPr>
        <p:txBody>
          <a:bodyPr wrap="square" rtlCol="0">
            <a:spAutoFit/>
          </a:bodyPr>
          <a:lstStyle/>
          <a:p>
            <a:r>
              <a:rPr lang="en-IN" b="1" dirty="0">
                <a:solidFill>
                  <a:schemeClr val="bg1"/>
                </a:solidFill>
              </a:rPr>
              <a:t>Data</a:t>
            </a:r>
          </a:p>
          <a:p>
            <a:r>
              <a:rPr lang="en-IN" b="1" dirty="0">
                <a:solidFill>
                  <a:schemeClr val="bg1"/>
                </a:solidFill>
              </a:rPr>
              <a:t>Transformation</a:t>
            </a:r>
          </a:p>
        </p:txBody>
      </p:sp>
      <p:sp>
        <p:nvSpPr>
          <p:cNvPr id="13" name="TextBox 12">
            <a:extLst>
              <a:ext uri="{FF2B5EF4-FFF2-40B4-BE49-F238E27FC236}">
                <a16:creationId xmlns:a16="http://schemas.microsoft.com/office/drawing/2014/main" id="{8AF36B26-18B6-A15A-8541-5C6225567622}"/>
              </a:ext>
            </a:extLst>
          </p:cNvPr>
          <p:cNvSpPr txBox="1"/>
          <p:nvPr/>
        </p:nvSpPr>
        <p:spPr>
          <a:xfrm>
            <a:off x="8029576" y="1066801"/>
            <a:ext cx="2619374" cy="923330"/>
          </a:xfrm>
          <a:prstGeom prst="rect">
            <a:avLst/>
          </a:prstGeom>
          <a:noFill/>
        </p:spPr>
        <p:txBody>
          <a:bodyPr wrap="square" rtlCol="0">
            <a:spAutoFit/>
          </a:bodyPr>
          <a:lstStyle/>
          <a:p>
            <a:pPr algn="ctr"/>
            <a:r>
              <a:rPr lang="en-IN" b="1" dirty="0">
                <a:solidFill>
                  <a:schemeClr val="bg1"/>
                </a:solidFill>
              </a:rPr>
              <a:t>Training </a:t>
            </a:r>
          </a:p>
          <a:p>
            <a:pPr algn="ctr"/>
            <a:r>
              <a:rPr lang="en-IN" b="1" dirty="0">
                <a:solidFill>
                  <a:schemeClr val="bg1"/>
                </a:solidFill>
              </a:rPr>
              <a:t>and </a:t>
            </a:r>
          </a:p>
          <a:p>
            <a:pPr algn="ctr"/>
            <a:r>
              <a:rPr lang="en-IN" b="1" dirty="0">
                <a:solidFill>
                  <a:schemeClr val="bg1"/>
                </a:solidFill>
              </a:rPr>
              <a:t>Validation</a:t>
            </a:r>
          </a:p>
        </p:txBody>
      </p:sp>
      <p:pic>
        <p:nvPicPr>
          <p:cNvPr id="14" name="Picture 13">
            <a:extLst>
              <a:ext uri="{FF2B5EF4-FFF2-40B4-BE49-F238E27FC236}">
                <a16:creationId xmlns:a16="http://schemas.microsoft.com/office/drawing/2014/main" id="{AAB90541-404F-4D44-3AFB-5D5D647538B9}"/>
              </a:ext>
            </a:extLst>
          </p:cNvPr>
          <p:cNvPicPr>
            <a:picLocks noChangeAspect="1"/>
          </p:cNvPicPr>
          <p:nvPr/>
        </p:nvPicPr>
        <p:blipFill>
          <a:blip r:embed="rId3"/>
          <a:stretch>
            <a:fillRect/>
          </a:stretch>
        </p:blipFill>
        <p:spPr>
          <a:xfrm>
            <a:off x="6912521" y="2003506"/>
            <a:ext cx="4781352" cy="3860635"/>
          </a:xfrm>
          <a:prstGeom prst="rect">
            <a:avLst/>
          </a:prstGeom>
        </p:spPr>
      </p:pic>
    </p:spTree>
    <p:extLst>
      <p:ext uri="{BB962C8B-B14F-4D97-AF65-F5344CB8AC3E}">
        <p14:creationId xmlns:p14="http://schemas.microsoft.com/office/powerpoint/2010/main" val="982681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BE8A825-8A2B-996D-288F-C03764D66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23367-46D3-A8C5-8388-235D259BB308}"/>
              </a:ext>
            </a:extLst>
          </p:cNvPr>
          <p:cNvSpPr>
            <a:spLocks noGrp="1"/>
          </p:cNvSpPr>
          <p:nvPr>
            <p:ph type="title"/>
          </p:nvPr>
        </p:nvSpPr>
        <p:spPr>
          <a:xfrm>
            <a:off x="0" y="-266700"/>
            <a:ext cx="10353762" cy="1257300"/>
          </a:xfrm>
        </p:spPr>
        <p:txBody>
          <a:bodyPr>
            <a:normAutofit/>
          </a:bodyPr>
          <a:lstStyle/>
          <a:p>
            <a:pPr algn="l"/>
            <a:r>
              <a:rPr lang="en-IN" sz="4100" dirty="0">
                <a:solidFill>
                  <a:schemeClr val="bg1"/>
                </a:solidFill>
              </a:rPr>
              <a:t>        W-GAN ARCHITECTURE DIAGRAM</a:t>
            </a:r>
          </a:p>
        </p:txBody>
      </p:sp>
      <p:pic>
        <p:nvPicPr>
          <p:cNvPr id="7" name="Content Placeholder 6">
            <a:extLst>
              <a:ext uri="{FF2B5EF4-FFF2-40B4-BE49-F238E27FC236}">
                <a16:creationId xmlns:a16="http://schemas.microsoft.com/office/drawing/2014/main" id="{9014DD61-D1ED-75D7-CC5B-211D1D30532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5670" y="1958212"/>
            <a:ext cx="7620660" cy="2941575"/>
          </a:xfrm>
          <a:prstGeom prst="rect">
            <a:avLst/>
          </a:prstGeom>
        </p:spPr>
      </p:pic>
    </p:spTree>
    <p:extLst>
      <p:ext uri="{BB962C8B-B14F-4D97-AF65-F5344CB8AC3E}">
        <p14:creationId xmlns:p14="http://schemas.microsoft.com/office/powerpoint/2010/main" val="1478243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A6BE229-DAFE-9524-9929-A953F9F2F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DFABF-CA80-9AE8-7F52-6EF386974445}"/>
              </a:ext>
            </a:extLst>
          </p:cNvPr>
          <p:cNvSpPr>
            <a:spLocks noGrp="1"/>
          </p:cNvSpPr>
          <p:nvPr>
            <p:ph type="title"/>
          </p:nvPr>
        </p:nvSpPr>
        <p:spPr/>
        <p:txBody>
          <a:bodyPr>
            <a:normAutofit/>
          </a:bodyPr>
          <a:lstStyle/>
          <a:p>
            <a:pPr algn="l"/>
            <a:r>
              <a:rPr lang="en-IN" sz="4100" dirty="0">
                <a:solidFill>
                  <a:schemeClr val="bg1"/>
                </a:solidFill>
              </a:rPr>
              <a:t>EXPLANATION</a:t>
            </a:r>
          </a:p>
        </p:txBody>
      </p:sp>
      <p:sp>
        <p:nvSpPr>
          <p:cNvPr id="3" name="Content Placeholder 2">
            <a:extLst>
              <a:ext uri="{FF2B5EF4-FFF2-40B4-BE49-F238E27FC236}">
                <a16:creationId xmlns:a16="http://schemas.microsoft.com/office/drawing/2014/main" id="{A53FE03D-1616-11F4-9A20-ABA6283934E6}"/>
              </a:ext>
            </a:extLst>
          </p:cNvPr>
          <p:cNvSpPr>
            <a:spLocks noGrp="1"/>
          </p:cNvSpPr>
          <p:nvPr>
            <p:ph idx="1"/>
          </p:nvPr>
        </p:nvSpPr>
        <p:spPr>
          <a:xfrm>
            <a:off x="913795" y="1781175"/>
            <a:ext cx="10353762" cy="3714749"/>
          </a:xfrm>
        </p:spPr>
        <p:txBody>
          <a:bodyPr>
            <a:noAutofit/>
          </a:bodyPr>
          <a:lstStyle/>
          <a:p>
            <a:r>
              <a:rPr lang="en-US" sz="2200" dirty="0">
                <a:solidFill>
                  <a:schemeClr val="tx2">
                    <a:lumMod val="10000"/>
                  </a:schemeClr>
                </a:solidFill>
                <a:effectLst/>
              </a:rPr>
              <a:t>A GAN (Generative Adversarial Network) is a model where the generator creates fake data from random noise, and the discriminator evaluates whether the data is real or artificially generated.</a:t>
            </a:r>
          </a:p>
          <a:p>
            <a:r>
              <a:rPr lang="en-US" sz="2200" dirty="0">
                <a:solidFill>
                  <a:schemeClr val="tx2">
                    <a:lumMod val="10000"/>
                  </a:schemeClr>
                </a:solidFill>
                <a:effectLst/>
              </a:rPr>
              <a:t>Vanilla GAN failed because severe class imbalance caused mode collapse, with the generator producing mostly common samples and ignoring rare attack types during training.</a:t>
            </a:r>
          </a:p>
          <a:p>
            <a:r>
              <a:rPr lang="en-US" sz="2200" dirty="0">
                <a:solidFill>
                  <a:schemeClr val="tx2">
                    <a:lumMod val="10000"/>
                  </a:schemeClr>
                </a:solidFill>
                <a:effectLst/>
              </a:rPr>
              <a:t>Conditional GAN failed as adversarial instability remained; rare classes had too few examples, leading to weak convergence and mode collapse within conditioned categories.</a:t>
            </a:r>
          </a:p>
        </p:txBody>
      </p:sp>
    </p:spTree>
    <p:extLst>
      <p:ext uri="{BB962C8B-B14F-4D97-AF65-F5344CB8AC3E}">
        <p14:creationId xmlns:p14="http://schemas.microsoft.com/office/powerpoint/2010/main" val="3085433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734A1A5-881D-C63E-0BAA-155ED4A52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1C08D-DFC0-4BCE-6393-7D829ADBDB52}"/>
              </a:ext>
            </a:extLst>
          </p:cNvPr>
          <p:cNvSpPr>
            <a:spLocks noGrp="1"/>
          </p:cNvSpPr>
          <p:nvPr>
            <p:ph type="title"/>
          </p:nvPr>
        </p:nvSpPr>
        <p:spPr/>
        <p:txBody>
          <a:bodyPr>
            <a:normAutofit/>
          </a:bodyPr>
          <a:lstStyle/>
          <a:p>
            <a:pPr algn="l"/>
            <a:r>
              <a:rPr lang="en-IN" sz="4100" dirty="0">
                <a:solidFill>
                  <a:schemeClr val="bg1"/>
                </a:solidFill>
              </a:rPr>
              <a:t>EXPLANATION</a:t>
            </a:r>
          </a:p>
        </p:txBody>
      </p:sp>
      <p:sp>
        <p:nvSpPr>
          <p:cNvPr id="3" name="Content Placeholder 2">
            <a:extLst>
              <a:ext uri="{FF2B5EF4-FFF2-40B4-BE49-F238E27FC236}">
                <a16:creationId xmlns:a16="http://schemas.microsoft.com/office/drawing/2014/main" id="{032DDBBF-5C21-C157-0BA3-6560D620CF21}"/>
              </a:ext>
            </a:extLst>
          </p:cNvPr>
          <p:cNvSpPr>
            <a:spLocks noGrp="1"/>
          </p:cNvSpPr>
          <p:nvPr>
            <p:ph idx="1"/>
          </p:nvPr>
        </p:nvSpPr>
        <p:spPr>
          <a:xfrm>
            <a:off x="913795" y="1781175"/>
            <a:ext cx="10353762" cy="3714749"/>
          </a:xfrm>
        </p:spPr>
        <p:txBody>
          <a:bodyPr>
            <a:noAutofit/>
          </a:bodyPr>
          <a:lstStyle/>
          <a:p>
            <a:r>
              <a:rPr lang="en-US" sz="2200" dirty="0">
                <a:solidFill>
                  <a:schemeClr val="tx2">
                    <a:lumMod val="10000"/>
                  </a:schemeClr>
                </a:solidFill>
                <a:effectLst/>
              </a:rPr>
              <a:t>The main difference between a simple GAN and a Wasserstein GAN (WGAN) is that WGAN uses a continuous scoring critic instead of a binary discriminator, providing smoother gradients and more stable training, especially when real and generated distributions are far apart or imbalanced.</a:t>
            </a:r>
          </a:p>
          <a:p>
            <a:r>
              <a:rPr lang="en-US" sz="2200" dirty="0">
                <a:solidFill>
                  <a:schemeClr val="tx2">
                    <a:lumMod val="10000"/>
                  </a:schemeClr>
                </a:solidFill>
                <a:effectLst/>
              </a:rPr>
              <a:t>Wasserstein GAN reduced collapse by providing smoother gradients and feedback, but weight clipping required delicate tuning and could destabilize learning if not carefully managed.</a:t>
            </a:r>
          </a:p>
          <a:p>
            <a:r>
              <a:rPr lang="en-US" sz="2200" dirty="0">
                <a:solidFill>
                  <a:schemeClr val="tx2">
                    <a:lumMod val="10000"/>
                  </a:schemeClr>
                </a:solidFill>
                <a:effectLst/>
              </a:rPr>
              <a:t>WGAN with gradient penalty succeeded by enforcing Lipschitz constraints without clipping, improving stability and allowing robust learning even with extremely scarce examples per attack class.</a:t>
            </a:r>
            <a:endParaRPr lang="en-IN" sz="2200" dirty="0">
              <a:solidFill>
                <a:schemeClr val="tx2">
                  <a:lumMod val="10000"/>
                </a:schemeClr>
              </a:solidFill>
              <a:effectLst/>
            </a:endParaRPr>
          </a:p>
        </p:txBody>
      </p:sp>
    </p:spTree>
    <p:extLst>
      <p:ext uri="{BB962C8B-B14F-4D97-AF65-F5344CB8AC3E}">
        <p14:creationId xmlns:p14="http://schemas.microsoft.com/office/powerpoint/2010/main" val="419307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8FE9F3E-30B6-FD61-26B6-D761A2717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9629E-4A27-D2CC-FE79-9A97F276D245}"/>
              </a:ext>
            </a:extLst>
          </p:cNvPr>
          <p:cNvSpPr>
            <a:spLocks noGrp="1"/>
          </p:cNvSpPr>
          <p:nvPr>
            <p:ph type="title"/>
          </p:nvPr>
        </p:nvSpPr>
        <p:spPr>
          <a:xfrm>
            <a:off x="-123825" y="657225"/>
            <a:ext cx="10353762" cy="1257300"/>
          </a:xfrm>
        </p:spPr>
        <p:txBody>
          <a:bodyPr>
            <a:normAutofit/>
          </a:bodyPr>
          <a:lstStyle/>
          <a:p>
            <a:pPr algn="l"/>
            <a:r>
              <a:rPr lang="en-IN" sz="4100" dirty="0">
                <a:solidFill>
                  <a:schemeClr val="bg1"/>
                </a:solidFill>
              </a:rPr>
              <a:t>        EVALUATION METRICS</a:t>
            </a:r>
          </a:p>
        </p:txBody>
      </p:sp>
      <p:sp>
        <p:nvSpPr>
          <p:cNvPr id="4" name="Content Placeholder 3">
            <a:extLst>
              <a:ext uri="{FF2B5EF4-FFF2-40B4-BE49-F238E27FC236}">
                <a16:creationId xmlns:a16="http://schemas.microsoft.com/office/drawing/2014/main" id="{D536FD68-EA09-AAEC-832F-0E49352D6CAA}"/>
              </a:ext>
            </a:extLst>
          </p:cNvPr>
          <p:cNvSpPr>
            <a:spLocks noGrp="1"/>
          </p:cNvSpPr>
          <p:nvPr>
            <p:ph idx="1"/>
          </p:nvPr>
        </p:nvSpPr>
        <p:spPr>
          <a:xfrm>
            <a:off x="1094770" y="2000250"/>
            <a:ext cx="10353762" cy="3714749"/>
          </a:xfrm>
        </p:spPr>
        <p:txBody>
          <a:bodyPr>
            <a:noAutofit/>
          </a:bodyPr>
          <a:lstStyle/>
          <a:p>
            <a:r>
              <a:rPr lang="en-US" sz="2200" dirty="0">
                <a:solidFill>
                  <a:schemeClr val="tx2">
                    <a:lumMod val="10000"/>
                  </a:schemeClr>
                </a:solidFill>
                <a:effectLst/>
              </a:rPr>
              <a:t>Accuracy = (TP + TN) / (TP + TN + FP + FN)</a:t>
            </a:r>
          </a:p>
          <a:p>
            <a:r>
              <a:rPr lang="en-US" sz="2200" dirty="0">
                <a:solidFill>
                  <a:schemeClr val="tx2">
                    <a:lumMod val="10000"/>
                  </a:schemeClr>
                </a:solidFill>
                <a:effectLst/>
              </a:rPr>
              <a:t>Recall = (TP) / (TP + FN)</a:t>
            </a:r>
          </a:p>
          <a:p>
            <a:r>
              <a:rPr lang="en-US" sz="2200" dirty="0">
                <a:solidFill>
                  <a:schemeClr val="tx2">
                    <a:lumMod val="10000"/>
                  </a:schemeClr>
                </a:solidFill>
                <a:effectLst/>
              </a:rPr>
              <a:t>Precision = (TP) / (TP + FP)</a:t>
            </a:r>
          </a:p>
          <a:p>
            <a:r>
              <a:rPr lang="en-US" sz="2200" dirty="0">
                <a:solidFill>
                  <a:schemeClr val="tx2">
                    <a:lumMod val="10000"/>
                  </a:schemeClr>
                </a:solidFill>
                <a:effectLst/>
              </a:rPr>
              <a:t>F1score = (2 * Precision * Recall) / (Precision + Recall)</a:t>
            </a:r>
          </a:p>
          <a:p>
            <a:r>
              <a:rPr lang="en-US" sz="2200" dirty="0">
                <a:solidFill>
                  <a:schemeClr val="tx2">
                    <a:lumMod val="10000"/>
                  </a:schemeClr>
                </a:solidFill>
                <a:effectLst/>
              </a:rPr>
              <a:t>False Alarm Rate = (FP) / (FP + TN)</a:t>
            </a:r>
          </a:p>
          <a:p>
            <a:pPr marL="36900" indent="0">
              <a:buNone/>
            </a:pPr>
            <a:endParaRPr lang="en-IN" sz="2200" dirty="0">
              <a:solidFill>
                <a:schemeClr val="bg1"/>
              </a:solidFill>
            </a:endParaRPr>
          </a:p>
          <a:p>
            <a:pPr marL="36900" indent="0">
              <a:buNone/>
            </a:pPr>
            <a:r>
              <a:rPr lang="en-IN" sz="2200" dirty="0">
                <a:solidFill>
                  <a:schemeClr val="bg1"/>
                </a:solidFill>
              </a:rPr>
              <a:t>Where,</a:t>
            </a:r>
          </a:p>
          <a:p>
            <a:pPr marL="36900" indent="0">
              <a:buNone/>
            </a:pPr>
            <a:r>
              <a:rPr lang="en-IN" sz="2200" dirty="0">
                <a:solidFill>
                  <a:schemeClr val="bg1"/>
                </a:solidFill>
              </a:rPr>
              <a:t>TP = True Positive                                    FP = False Positive</a:t>
            </a:r>
          </a:p>
          <a:p>
            <a:pPr marL="36900" indent="0">
              <a:buNone/>
            </a:pPr>
            <a:r>
              <a:rPr lang="en-IN" sz="2200" dirty="0">
                <a:solidFill>
                  <a:schemeClr val="bg1"/>
                </a:solidFill>
              </a:rPr>
              <a:t>TN = True Negative                                 FN = False Negative</a:t>
            </a:r>
          </a:p>
        </p:txBody>
      </p:sp>
    </p:spTree>
    <p:extLst>
      <p:ext uri="{BB962C8B-B14F-4D97-AF65-F5344CB8AC3E}">
        <p14:creationId xmlns:p14="http://schemas.microsoft.com/office/powerpoint/2010/main" val="207231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A2601E2-2541-AB19-EF93-5F426FDE9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BD079-B4F4-00AF-B8DC-2A570CAC7466}"/>
              </a:ext>
            </a:extLst>
          </p:cNvPr>
          <p:cNvSpPr>
            <a:spLocks noGrp="1"/>
          </p:cNvSpPr>
          <p:nvPr>
            <p:ph type="title"/>
          </p:nvPr>
        </p:nvSpPr>
        <p:spPr>
          <a:xfrm>
            <a:off x="913795" y="390685"/>
            <a:ext cx="10353762" cy="1257300"/>
          </a:xfrm>
        </p:spPr>
        <p:txBody>
          <a:bodyPr>
            <a:normAutofit/>
          </a:bodyPr>
          <a:lstStyle/>
          <a:p>
            <a:pPr algn="l"/>
            <a:r>
              <a:rPr lang="en-IN" sz="4100" dirty="0">
                <a:solidFill>
                  <a:schemeClr val="bg1"/>
                </a:solidFill>
              </a:rPr>
              <a:t>RESULTS</a:t>
            </a:r>
          </a:p>
        </p:txBody>
      </p:sp>
      <p:graphicFrame>
        <p:nvGraphicFramePr>
          <p:cNvPr id="6" name="Content Placeholder 8">
            <a:extLst>
              <a:ext uri="{FF2B5EF4-FFF2-40B4-BE49-F238E27FC236}">
                <a16:creationId xmlns:a16="http://schemas.microsoft.com/office/drawing/2014/main" id="{342F8109-57C5-5B0B-7198-1EBC3D336CB3}"/>
              </a:ext>
            </a:extLst>
          </p:cNvPr>
          <p:cNvGraphicFramePr>
            <a:graphicFrameLocks/>
          </p:cNvGraphicFramePr>
          <p:nvPr>
            <p:extLst>
              <p:ext uri="{D42A27DB-BD31-4B8C-83A1-F6EECF244321}">
                <p14:modId xmlns:p14="http://schemas.microsoft.com/office/powerpoint/2010/main" val="722817560"/>
              </p:ext>
            </p:extLst>
          </p:nvPr>
        </p:nvGraphicFramePr>
        <p:xfrm>
          <a:off x="2724151" y="1700372"/>
          <a:ext cx="6943724" cy="2085978"/>
        </p:xfrm>
        <a:graphic>
          <a:graphicData uri="http://schemas.openxmlformats.org/drawingml/2006/table">
            <a:tbl>
              <a:tblPr firstRow="1" firstCol="1" bandRow="1">
                <a:tableStyleId>{5C22544A-7EE6-4342-B048-85BDC9FD1C3A}</a:tableStyleId>
              </a:tblPr>
              <a:tblGrid>
                <a:gridCol w="1513047">
                  <a:extLst>
                    <a:ext uri="{9D8B030D-6E8A-4147-A177-3AD203B41FA5}">
                      <a16:colId xmlns:a16="http://schemas.microsoft.com/office/drawing/2014/main" val="514443395"/>
                    </a:ext>
                  </a:extLst>
                </a:gridCol>
                <a:gridCol w="2056448">
                  <a:extLst>
                    <a:ext uri="{9D8B030D-6E8A-4147-A177-3AD203B41FA5}">
                      <a16:colId xmlns:a16="http://schemas.microsoft.com/office/drawing/2014/main" val="2220526067"/>
                    </a:ext>
                  </a:extLst>
                </a:gridCol>
                <a:gridCol w="1513047">
                  <a:extLst>
                    <a:ext uri="{9D8B030D-6E8A-4147-A177-3AD203B41FA5}">
                      <a16:colId xmlns:a16="http://schemas.microsoft.com/office/drawing/2014/main" val="1516450735"/>
                    </a:ext>
                  </a:extLst>
                </a:gridCol>
                <a:gridCol w="1861182">
                  <a:extLst>
                    <a:ext uri="{9D8B030D-6E8A-4147-A177-3AD203B41FA5}">
                      <a16:colId xmlns:a16="http://schemas.microsoft.com/office/drawing/2014/main" val="281985862"/>
                    </a:ext>
                  </a:extLst>
                </a:gridCol>
              </a:tblGrid>
              <a:tr h="347663">
                <a:tc>
                  <a:txBody>
                    <a:bodyPr/>
                    <a:lstStyle/>
                    <a:p>
                      <a:pPr algn="ctr" hangingPunct="0">
                        <a:lnSpc>
                          <a:spcPct val="150000"/>
                        </a:lnSpc>
                        <a:buNone/>
                      </a:pPr>
                      <a:r>
                        <a:rPr lang="en-US" sz="1400" dirty="0">
                          <a:effectLst/>
                        </a:rPr>
                        <a:t>Category</a:t>
                      </a:r>
                      <a:endParaRPr lang="en-IN"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a:effectLst/>
                        </a:rPr>
                        <a:t>Class</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a:effectLst/>
                        </a:rPr>
                        <a:t>Samples</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a:effectLst/>
                        </a:rPr>
                        <a:t>Percentage</a:t>
                      </a:r>
                      <a:endParaRPr lang="en-IN" sz="1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68712764"/>
                  </a:ext>
                </a:extLst>
              </a:tr>
              <a:tr h="347663">
                <a:tc>
                  <a:txBody>
                    <a:bodyPr/>
                    <a:lstStyle/>
                    <a:p>
                      <a:pPr algn="ctr" hangingPunct="0">
                        <a:lnSpc>
                          <a:spcPct val="150000"/>
                        </a:lnSpc>
                        <a:buNone/>
                      </a:pPr>
                      <a:r>
                        <a:rPr lang="en-US" sz="1400">
                          <a:effectLst/>
                        </a:rPr>
                        <a:t>Frequent</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DoS</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45927</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37.34</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46616664"/>
                  </a:ext>
                </a:extLst>
              </a:tr>
              <a:tr h="347663">
                <a:tc>
                  <a:txBody>
                    <a:bodyPr/>
                    <a:lstStyle/>
                    <a:p>
                      <a:pPr algn="ctr" hangingPunct="0">
                        <a:lnSpc>
                          <a:spcPct val="150000"/>
                        </a:lnSpc>
                        <a:buNone/>
                      </a:pPr>
                      <a:r>
                        <a:rPr lang="en-US" sz="1400">
                          <a:effectLst/>
                        </a:rPr>
                        <a:t>Frequent</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Probe</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11656</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9.47</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55953775"/>
                  </a:ext>
                </a:extLst>
              </a:tr>
              <a:tr h="347663">
                <a:tc>
                  <a:txBody>
                    <a:bodyPr/>
                    <a:lstStyle/>
                    <a:p>
                      <a:pPr algn="ctr" hangingPunct="0">
                        <a:lnSpc>
                          <a:spcPct val="150000"/>
                        </a:lnSpc>
                        <a:buNone/>
                      </a:pPr>
                      <a:r>
                        <a:rPr lang="en-US" sz="1400">
                          <a:effectLst/>
                        </a:rPr>
                        <a:t>Rare</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R2L</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995</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0.8</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2128959"/>
                  </a:ext>
                </a:extLst>
              </a:tr>
              <a:tr h="347663">
                <a:tc>
                  <a:txBody>
                    <a:bodyPr/>
                    <a:lstStyle/>
                    <a:p>
                      <a:pPr algn="ctr" hangingPunct="0">
                        <a:lnSpc>
                          <a:spcPct val="150000"/>
                        </a:lnSpc>
                        <a:buNone/>
                      </a:pPr>
                      <a:r>
                        <a:rPr lang="en-US" sz="1400">
                          <a:effectLst/>
                        </a:rPr>
                        <a:t>Rare</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U2R</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52</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0.00042</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1510417"/>
                  </a:ext>
                </a:extLst>
              </a:tr>
              <a:tr h="347663">
                <a:tc>
                  <a:txBody>
                    <a:bodyPr/>
                    <a:lstStyle/>
                    <a:p>
                      <a:pPr algn="ctr" hangingPunct="0">
                        <a:lnSpc>
                          <a:spcPct val="150000"/>
                        </a:lnSpc>
                        <a:buNone/>
                      </a:pPr>
                      <a:r>
                        <a:rPr lang="en-US" sz="1400">
                          <a:effectLst/>
                        </a:rPr>
                        <a:t>Normal</a:t>
                      </a:r>
                      <a:endParaRPr lang="en-IN"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Normal</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a:solidFill>
                            <a:schemeClr val="bg1"/>
                          </a:solidFill>
                          <a:effectLst/>
                        </a:rPr>
                        <a:t>67343</a:t>
                      </a:r>
                      <a:endParaRPr lang="en-IN" sz="1400" b="0">
                        <a:solidFill>
                          <a:schemeClr val="bg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hangingPunct="0">
                        <a:lnSpc>
                          <a:spcPct val="150000"/>
                        </a:lnSpc>
                        <a:buNone/>
                      </a:pPr>
                      <a:r>
                        <a:rPr lang="en-US" sz="1400" b="0" dirty="0">
                          <a:solidFill>
                            <a:schemeClr val="bg1"/>
                          </a:solidFill>
                          <a:effectLst/>
                        </a:rPr>
                        <a:t>54.76</a:t>
                      </a:r>
                      <a:endParaRPr lang="en-IN" sz="1400" b="0" dirty="0">
                        <a:solidFill>
                          <a:schemeClr val="bg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3340417"/>
                  </a:ext>
                </a:extLst>
              </a:tr>
            </a:tbl>
          </a:graphicData>
        </a:graphic>
      </p:graphicFrame>
      <p:graphicFrame>
        <p:nvGraphicFramePr>
          <p:cNvPr id="7" name="Table 6">
            <a:extLst>
              <a:ext uri="{FF2B5EF4-FFF2-40B4-BE49-F238E27FC236}">
                <a16:creationId xmlns:a16="http://schemas.microsoft.com/office/drawing/2014/main" id="{463CDB9F-A9BB-12A4-3193-B5E9C07773B9}"/>
              </a:ext>
            </a:extLst>
          </p:cNvPr>
          <p:cNvGraphicFramePr>
            <a:graphicFrameLocks noGrp="1"/>
          </p:cNvGraphicFramePr>
          <p:nvPr>
            <p:extLst>
              <p:ext uri="{D42A27DB-BD31-4B8C-83A1-F6EECF244321}">
                <p14:modId xmlns:p14="http://schemas.microsoft.com/office/powerpoint/2010/main" val="2283312232"/>
              </p:ext>
            </p:extLst>
          </p:nvPr>
        </p:nvGraphicFramePr>
        <p:xfrm>
          <a:off x="2724151" y="4248149"/>
          <a:ext cx="6943724" cy="2085978"/>
        </p:xfrm>
        <a:graphic>
          <a:graphicData uri="http://schemas.openxmlformats.org/drawingml/2006/table">
            <a:tbl>
              <a:tblPr firstRow="1" firstCol="1" bandRow="1">
                <a:tableStyleId>{5C22544A-7EE6-4342-B048-85BDC9FD1C3A}</a:tableStyleId>
              </a:tblPr>
              <a:tblGrid>
                <a:gridCol w="1466849">
                  <a:extLst>
                    <a:ext uri="{9D8B030D-6E8A-4147-A177-3AD203B41FA5}">
                      <a16:colId xmlns:a16="http://schemas.microsoft.com/office/drawing/2014/main" val="1626052202"/>
                    </a:ext>
                  </a:extLst>
                </a:gridCol>
                <a:gridCol w="2105025">
                  <a:extLst>
                    <a:ext uri="{9D8B030D-6E8A-4147-A177-3AD203B41FA5}">
                      <a16:colId xmlns:a16="http://schemas.microsoft.com/office/drawing/2014/main" val="28455691"/>
                    </a:ext>
                  </a:extLst>
                </a:gridCol>
                <a:gridCol w="1514475">
                  <a:extLst>
                    <a:ext uri="{9D8B030D-6E8A-4147-A177-3AD203B41FA5}">
                      <a16:colId xmlns:a16="http://schemas.microsoft.com/office/drawing/2014/main" val="1008172559"/>
                    </a:ext>
                  </a:extLst>
                </a:gridCol>
                <a:gridCol w="1857375">
                  <a:extLst>
                    <a:ext uri="{9D8B030D-6E8A-4147-A177-3AD203B41FA5}">
                      <a16:colId xmlns:a16="http://schemas.microsoft.com/office/drawing/2014/main" val="1182030771"/>
                    </a:ext>
                  </a:extLst>
                </a:gridCol>
              </a:tblGrid>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Category</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Class</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Samples</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1" kern="1200" dirty="0">
                          <a:solidFill>
                            <a:schemeClr val="lt1"/>
                          </a:solidFill>
                          <a:effectLst/>
                          <a:latin typeface="+mn-lt"/>
                          <a:ea typeface="+mn-ea"/>
                          <a:cs typeface="+mn-cs"/>
                        </a:rPr>
                        <a:t>Percentage</a:t>
                      </a:r>
                      <a:endParaRPr lang="en-IN" sz="1400" b="1" kern="1200" dirty="0">
                        <a:solidFill>
                          <a:schemeClr val="lt1"/>
                        </a:solidFill>
                        <a:effectLst/>
                        <a:latin typeface="+mn-lt"/>
                        <a:ea typeface="+mn-ea"/>
                        <a:cs typeface="+mn-cs"/>
                      </a:endParaRPr>
                    </a:p>
                  </a:txBody>
                  <a:tcPr marL="68580" marR="68580" marT="0" marB="0"/>
                </a:tc>
                <a:extLst>
                  <a:ext uri="{0D108BD9-81ED-4DB2-BD59-A6C34878D82A}">
                    <a16:rowId xmlns:a16="http://schemas.microsoft.com/office/drawing/2014/main" val="2680784247"/>
                  </a:ext>
                </a:extLst>
              </a:tr>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Frequent</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DoS</a:t>
                      </a:r>
                      <a:endParaRPr lang="en-IN" sz="1400" b="0" kern="1200" dirty="0">
                        <a:solidFill>
                          <a:schemeClr val="bg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IN" sz="1400" b="0" kern="1200">
                          <a:solidFill>
                            <a:schemeClr val="bg1"/>
                          </a:solidFill>
                          <a:effectLst/>
                          <a:latin typeface="+mn-lt"/>
                          <a:ea typeface="+mn-ea"/>
                          <a:cs typeface="+mn-cs"/>
                        </a:rPr>
                        <a:t>65930</a:t>
                      </a: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24.77</a:t>
                      </a:r>
                      <a:endParaRPr lang="en-IN" sz="1400" b="0" kern="1200" dirty="0">
                        <a:solidFill>
                          <a:schemeClr val="bg1"/>
                        </a:solidFill>
                        <a:effectLst/>
                        <a:latin typeface="+mn-lt"/>
                        <a:ea typeface="+mn-ea"/>
                        <a:cs typeface="+mn-cs"/>
                      </a:endParaRPr>
                    </a:p>
                  </a:txBody>
                  <a:tcPr marL="68580" marR="68580" marT="0" marB="0"/>
                </a:tc>
                <a:extLst>
                  <a:ext uri="{0D108BD9-81ED-4DB2-BD59-A6C34878D82A}">
                    <a16:rowId xmlns:a16="http://schemas.microsoft.com/office/drawing/2014/main" val="3585630493"/>
                  </a:ext>
                </a:extLst>
              </a:tr>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Frequent</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Probe</a:t>
                      </a:r>
                      <a:endParaRPr lang="en-IN" sz="1400" b="0" kern="1200" dirty="0">
                        <a:solidFill>
                          <a:schemeClr val="bg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IN" sz="1400" b="0" kern="1200" dirty="0">
                          <a:solidFill>
                            <a:schemeClr val="bg1"/>
                          </a:solidFill>
                          <a:effectLst/>
                          <a:latin typeface="+mn-lt"/>
                          <a:ea typeface="+mn-ea"/>
                          <a:cs typeface="+mn-cs"/>
                        </a:rPr>
                        <a:t>11656</a:t>
                      </a: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4.40</a:t>
                      </a:r>
                      <a:endParaRPr lang="en-IN" sz="1400" b="0" kern="1200" dirty="0">
                        <a:solidFill>
                          <a:schemeClr val="bg1"/>
                        </a:solidFill>
                        <a:effectLst/>
                        <a:latin typeface="+mn-lt"/>
                        <a:ea typeface="+mn-ea"/>
                        <a:cs typeface="+mn-cs"/>
                      </a:endParaRPr>
                    </a:p>
                  </a:txBody>
                  <a:tcPr marL="68580" marR="68580" marT="0" marB="0"/>
                </a:tc>
                <a:extLst>
                  <a:ext uri="{0D108BD9-81ED-4DB2-BD59-A6C34878D82A}">
                    <a16:rowId xmlns:a16="http://schemas.microsoft.com/office/drawing/2014/main" val="1085391770"/>
                  </a:ext>
                </a:extLst>
              </a:tr>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Rare</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R2L</a:t>
                      </a:r>
                      <a:endParaRPr lang="en-IN" sz="1400" b="0" kern="1200" dirty="0">
                        <a:solidFill>
                          <a:schemeClr val="bg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IN" sz="1400" b="0" kern="1200" dirty="0">
                          <a:solidFill>
                            <a:schemeClr val="bg1"/>
                          </a:solidFill>
                          <a:effectLst/>
                          <a:latin typeface="+mn-lt"/>
                          <a:ea typeface="+mn-ea"/>
                          <a:cs typeface="+mn-cs"/>
                        </a:rPr>
                        <a:t>81003</a:t>
                      </a: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30.45</a:t>
                      </a:r>
                      <a:endParaRPr lang="en-IN" sz="1400" b="0" kern="1200" dirty="0">
                        <a:solidFill>
                          <a:schemeClr val="bg1"/>
                        </a:solidFill>
                        <a:effectLst/>
                        <a:latin typeface="+mn-lt"/>
                        <a:ea typeface="+mn-ea"/>
                        <a:cs typeface="+mn-cs"/>
                      </a:endParaRPr>
                    </a:p>
                  </a:txBody>
                  <a:tcPr marL="68580" marR="68580" marT="0" marB="0"/>
                </a:tc>
                <a:extLst>
                  <a:ext uri="{0D108BD9-81ED-4DB2-BD59-A6C34878D82A}">
                    <a16:rowId xmlns:a16="http://schemas.microsoft.com/office/drawing/2014/main" val="243736334"/>
                  </a:ext>
                </a:extLst>
              </a:tr>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Rare</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0" kern="1200">
                          <a:solidFill>
                            <a:schemeClr val="bg1"/>
                          </a:solidFill>
                          <a:effectLst/>
                          <a:latin typeface="+mn-lt"/>
                          <a:ea typeface="+mn-ea"/>
                          <a:cs typeface="+mn-cs"/>
                        </a:rPr>
                        <a:t>U2R</a:t>
                      </a:r>
                      <a:endParaRPr lang="en-IN" sz="1400" b="0" kern="1200">
                        <a:solidFill>
                          <a:schemeClr val="bg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IN" sz="1400" b="0" kern="1200" dirty="0">
                          <a:solidFill>
                            <a:schemeClr val="bg1"/>
                          </a:solidFill>
                          <a:effectLst/>
                          <a:latin typeface="+mn-lt"/>
                          <a:ea typeface="+mn-ea"/>
                          <a:cs typeface="+mn-cs"/>
                        </a:rPr>
                        <a:t>40053</a:t>
                      </a: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15.06</a:t>
                      </a:r>
                      <a:endParaRPr lang="en-IN" sz="1400" b="0" kern="1200" dirty="0">
                        <a:solidFill>
                          <a:schemeClr val="bg1"/>
                        </a:solidFill>
                        <a:effectLst/>
                        <a:latin typeface="+mn-lt"/>
                        <a:ea typeface="+mn-ea"/>
                        <a:cs typeface="+mn-cs"/>
                      </a:endParaRPr>
                    </a:p>
                  </a:txBody>
                  <a:tcPr marL="68580" marR="68580" marT="0" marB="0"/>
                </a:tc>
                <a:extLst>
                  <a:ext uri="{0D108BD9-81ED-4DB2-BD59-A6C34878D82A}">
                    <a16:rowId xmlns:a16="http://schemas.microsoft.com/office/drawing/2014/main" val="692015157"/>
                  </a:ext>
                </a:extLst>
              </a:tr>
              <a:tr h="347663">
                <a:tc>
                  <a:txBody>
                    <a:bodyPr/>
                    <a:lstStyle/>
                    <a:p>
                      <a:pPr marL="0" algn="ctr" defTabSz="457200" rtl="0" eaLnBrk="1" latinLnBrk="0" hangingPunct="0">
                        <a:lnSpc>
                          <a:spcPct val="150000"/>
                        </a:lnSpc>
                        <a:buNone/>
                      </a:pPr>
                      <a:r>
                        <a:rPr lang="en-US" sz="1400" b="1" kern="1200">
                          <a:solidFill>
                            <a:schemeClr val="lt1"/>
                          </a:solidFill>
                          <a:effectLst/>
                          <a:latin typeface="+mn-lt"/>
                          <a:ea typeface="+mn-ea"/>
                          <a:cs typeface="+mn-cs"/>
                        </a:rPr>
                        <a:t>Normal</a:t>
                      </a:r>
                      <a:endParaRPr lang="en-IN" sz="1400" b="1" kern="1200">
                        <a:solidFill>
                          <a:schemeClr val="lt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US" sz="1400" b="0" kern="1200">
                          <a:solidFill>
                            <a:schemeClr val="bg1"/>
                          </a:solidFill>
                          <a:effectLst/>
                          <a:latin typeface="+mn-lt"/>
                          <a:ea typeface="+mn-ea"/>
                          <a:cs typeface="+mn-cs"/>
                        </a:rPr>
                        <a:t>Normal</a:t>
                      </a:r>
                      <a:endParaRPr lang="en-IN" sz="1400" b="0" kern="1200">
                        <a:solidFill>
                          <a:schemeClr val="bg1"/>
                        </a:solidFill>
                        <a:effectLst/>
                        <a:latin typeface="+mn-lt"/>
                        <a:ea typeface="+mn-ea"/>
                        <a:cs typeface="+mn-cs"/>
                      </a:endParaRPr>
                    </a:p>
                  </a:txBody>
                  <a:tcPr marL="68580" marR="68580" marT="0" marB="0"/>
                </a:tc>
                <a:tc>
                  <a:txBody>
                    <a:bodyPr/>
                    <a:lstStyle/>
                    <a:p>
                      <a:pPr marL="0" algn="ctr" defTabSz="457200" rtl="0" eaLnBrk="1" latinLnBrk="0" hangingPunct="0">
                        <a:lnSpc>
                          <a:spcPct val="150000"/>
                        </a:lnSpc>
                        <a:buNone/>
                      </a:pPr>
                      <a:r>
                        <a:rPr lang="en-IN" sz="1400" b="0" kern="1200" dirty="0">
                          <a:solidFill>
                            <a:schemeClr val="bg1"/>
                          </a:solidFill>
                          <a:effectLst/>
                          <a:latin typeface="+mn-lt"/>
                          <a:ea typeface="+mn-ea"/>
                          <a:cs typeface="+mn-cs"/>
                        </a:rPr>
                        <a:t>67343</a:t>
                      </a:r>
                    </a:p>
                  </a:txBody>
                  <a:tcPr marL="68580" marR="68580" marT="0" marB="0"/>
                </a:tc>
                <a:tc>
                  <a:txBody>
                    <a:bodyPr/>
                    <a:lstStyle/>
                    <a:p>
                      <a:pPr marL="0" algn="ctr" defTabSz="457200" rtl="0" eaLnBrk="1" latinLnBrk="0" hangingPunct="0">
                        <a:lnSpc>
                          <a:spcPct val="150000"/>
                        </a:lnSpc>
                        <a:buNone/>
                      </a:pPr>
                      <a:r>
                        <a:rPr lang="en-US" sz="1400" b="0" kern="1200" dirty="0">
                          <a:solidFill>
                            <a:schemeClr val="bg1"/>
                          </a:solidFill>
                          <a:effectLst/>
                          <a:latin typeface="+mn-lt"/>
                          <a:ea typeface="+mn-ea"/>
                          <a:cs typeface="+mn-cs"/>
                        </a:rPr>
                        <a:t>25.32</a:t>
                      </a:r>
                      <a:endParaRPr lang="en-IN" sz="1400" b="0" kern="1200" dirty="0">
                        <a:solidFill>
                          <a:schemeClr val="bg1"/>
                        </a:solidFill>
                        <a:effectLst/>
                        <a:latin typeface="+mn-lt"/>
                        <a:ea typeface="+mn-ea"/>
                        <a:cs typeface="+mn-cs"/>
                      </a:endParaRPr>
                    </a:p>
                  </a:txBody>
                  <a:tcPr marL="68580" marR="68580" marT="0" marB="0"/>
                </a:tc>
                <a:extLst>
                  <a:ext uri="{0D108BD9-81ED-4DB2-BD59-A6C34878D82A}">
                    <a16:rowId xmlns:a16="http://schemas.microsoft.com/office/drawing/2014/main" val="2185389257"/>
                  </a:ext>
                </a:extLst>
              </a:tr>
            </a:tbl>
          </a:graphicData>
        </a:graphic>
      </p:graphicFrame>
      <p:sp>
        <p:nvSpPr>
          <p:cNvPr id="9" name="TextBox 8">
            <a:extLst>
              <a:ext uri="{FF2B5EF4-FFF2-40B4-BE49-F238E27FC236}">
                <a16:creationId xmlns:a16="http://schemas.microsoft.com/office/drawing/2014/main" id="{88410432-0B8C-B10F-AFA6-0B366817F371}"/>
              </a:ext>
            </a:extLst>
          </p:cNvPr>
          <p:cNvSpPr txBox="1"/>
          <p:nvPr/>
        </p:nvSpPr>
        <p:spPr>
          <a:xfrm>
            <a:off x="3969544" y="1238250"/>
            <a:ext cx="6110286" cy="369332"/>
          </a:xfrm>
          <a:prstGeom prst="rect">
            <a:avLst/>
          </a:prstGeom>
          <a:noFill/>
        </p:spPr>
        <p:txBody>
          <a:bodyPr wrap="square">
            <a:spAutoFit/>
          </a:bodyPr>
          <a:lstStyle/>
          <a:p>
            <a:r>
              <a:rPr lang="en-US" sz="1800" dirty="0">
                <a:solidFill>
                  <a:schemeClr val="bg1"/>
                </a:solidFill>
                <a:effectLst/>
                <a:latin typeface="Times New Roman" panose="02020603050405020304" pitchFamily="18" charset="0"/>
                <a:ea typeface="Times New Roman" panose="02020603050405020304" pitchFamily="18" charset="0"/>
              </a:rPr>
              <a:t>Distribution of Classes in Original </a:t>
            </a:r>
            <a:r>
              <a:rPr lang="en-US" sz="1800" dirty="0" err="1">
                <a:solidFill>
                  <a:schemeClr val="bg1"/>
                </a:solidFill>
                <a:effectLst/>
                <a:latin typeface="Times New Roman" panose="02020603050405020304" pitchFamily="18" charset="0"/>
                <a:ea typeface="Times New Roman" panose="02020603050405020304" pitchFamily="18" charset="0"/>
              </a:rPr>
              <a:t>KDDTrain</a:t>
            </a:r>
            <a:r>
              <a:rPr lang="en-US" sz="1800" dirty="0">
                <a:solidFill>
                  <a:schemeClr val="bg1"/>
                </a:solidFill>
                <a:effectLst/>
                <a:latin typeface="Times New Roman" panose="02020603050405020304" pitchFamily="18" charset="0"/>
                <a:ea typeface="Times New Roman" panose="02020603050405020304" pitchFamily="18" charset="0"/>
              </a:rPr>
              <a:t>+ </a:t>
            </a:r>
            <a:endParaRPr lang="en-IN" dirty="0">
              <a:solidFill>
                <a:schemeClr val="bg1"/>
              </a:solidFill>
            </a:endParaRPr>
          </a:p>
        </p:txBody>
      </p:sp>
      <p:sp>
        <p:nvSpPr>
          <p:cNvPr id="11" name="TextBox 10">
            <a:extLst>
              <a:ext uri="{FF2B5EF4-FFF2-40B4-BE49-F238E27FC236}">
                <a16:creationId xmlns:a16="http://schemas.microsoft.com/office/drawing/2014/main" id="{A9EA8888-B312-F18A-5FA4-2DB91E2FD5D0}"/>
              </a:ext>
            </a:extLst>
          </p:cNvPr>
          <p:cNvSpPr txBox="1"/>
          <p:nvPr/>
        </p:nvSpPr>
        <p:spPr>
          <a:xfrm>
            <a:off x="3140870" y="3955416"/>
            <a:ext cx="6110286" cy="252249"/>
          </a:xfrm>
          <a:prstGeom prst="rect">
            <a:avLst/>
          </a:prstGeom>
          <a:noFill/>
        </p:spPr>
        <p:txBody>
          <a:bodyPr wrap="square">
            <a:spAutoFit/>
          </a:bodyPr>
          <a:lstStyle/>
          <a:p>
            <a:pPr marL="720725" indent="144145" algn="just" hangingPunct="0">
              <a:lnSpc>
                <a:spcPts val="1100"/>
              </a:lnSpc>
              <a:spcBef>
                <a:spcPts val="1200"/>
              </a:spcBef>
              <a:spcAft>
                <a:spcPts val="600"/>
              </a:spcAft>
            </a:pPr>
            <a:r>
              <a:rPr lang="en-US" sz="1800" dirty="0">
                <a:solidFill>
                  <a:schemeClr val="bg1"/>
                </a:solidFill>
                <a:effectLst/>
                <a:latin typeface="Times New Roman" panose="02020603050405020304" pitchFamily="18" charset="0"/>
                <a:ea typeface="Times New Roman" panose="02020603050405020304" pitchFamily="18" charset="0"/>
              </a:rPr>
              <a:t>Distribution of Classes in Enhanced </a:t>
            </a:r>
            <a:r>
              <a:rPr lang="en-US" sz="1800" dirty="0" err="1">
                <a:solidFill>
                  <a:schemeClr val="bg1"/>
                </a:solidFill>
                <a:effectLst/>
                <a:latin typeface="Times New Roman" panose="02020603050405020304" pitchFamily="18" charset="0"/>
                <a:ea typeface="Times New Roman" panose="02020603050405020304" pitchFamily="18" charset="0"/>
              </a:rPr>
              <a:t>KDDTrain</a:t>
            </a:r>
            <a:r>
              <a:rPr lang="en-US" sz="1800" dirty="0">
                <a:solidFill>
                  <a:schemeClr val="bg1"/>
                </a:solidFill>
                <a:effectLst/>
                <a:latin typeface="Times New Roman" panose="02020603050405020304" pitchFamily="18" charset="0"/>
                <a:ea typeface="Times New Roman" panose="02020603050405020304" pitchFamily="18" charset="0"/>
              </a:rPr>
              <a:t>+ </a:t>
            </a:r>
            <a:endParaRPr lang="en-IN" sz="18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73186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F5290D9-C1F2-DD2C-54CA-F8F011BBF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58B91-AA41-EFDC-49B5-F0B2DA4E4146}"/>
              </a:ext>
            </a:extLst>
          </p:cNvPr>
          <p:cNvSpPr>
            <a:spLocks noGrp="1"/>
          </p:cNvSpPr>
          <p:nvPr>
            <p:ph type="title"/>
          </p:nvPr>
        </p:nvSpPr>
        <p:spPr>
          <a:xfrm>
            <a:off x="913795" y="390685"/>
            <a:ext cx="10353762" cy="1257300"/>
          </a:xfrm>
        </p:spPr>
        <p:txBody>
          <a:bodyPr>
            <a:normAutofit/>
          </a:bodyPr>
          <a:lstStyle/>
          <a:p>
            <a:pPr algn="l"/>
            <a:r>
              <a:rPr lang="en-IN" sz="4100" dirty="0">
                <a:solidFill>
                  <a:schemeClr val="bg1"/>
                </a:solidFill>
              </a:rPr>
              <a:t>RESULTS</a:t>
            </a:r>
          </a:p>
        </p:txBody>
      </p:sp>
      <p:sp>
        <p:nvSpPr>
          <p:cNvPr id="9" name="TextBox 8">
            <a:extLst>
              <a:ext uri="{FF2B5EF4-FFF2-40B4-BE49-F238E27FC236}">
                <a16:creationId xmlns:a16="http://schemas.microsoft.com/office/drawing/2014/main" id="{C2D70EC9-7F2C-0D68-1E43-BF2ED3552CAF}"/>
              </a:ext>
            </a:extLst>
          </p:cNvPr>
          <p:cNvSpPr txBox="1"/>
          <p:nvPr/>
        </p:nvSpPr>
        <p:spPr>
          <a:xfrm>
            <a:off x="3425153" y="1866900"/>
            <a:ext cx="6110286"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Overall Model Performance on </a:t>
            </a:r>
            <a:r>
              <a:rPr lang="en-US" dirty="0" err="1">
                <a:solidFill>
                  <a:schemeClr val="bg1"/>
                </a:solidFill>
                <a:latin typeface="Times New Roman" panose="02020603050405020304" pitchFamily="18" charset="0"/>
                <a:cs typeface="Times New Roman" panose="02020603050405020304" pitchFamily="18" charset="0"/>
              </a:rPr>
              <a:t>KDDTest</a:t>
            </a:r>
            <a:r>
              <a:rPr lang="en-US" dirty="0">
                <a:solidFill>
                  <a:schemeClr val="bg1"/>
                </a:solidFill>
                <a:latin typeface="Times New Roman" panose="02020603050405020304" pitchFamily="18" charset="0"/>
                <a:cs typeface="Times New Roman" panose="02020603050405020304" pitchFamily="18" charset="0"/>
              </a:rPr>
              <a:t>+ (in percentage - %)</a:t>
            </a:r>
            <a:endParaRPr lang="en-IN" dirty="0">
              <a:solidFill>
                <a:schemeClr val="bg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23E6702-C7C0-5E6D-912B-3C5B85154C73}"/>
              </a:ext>
            </a:extLst>
          </p:cNvPr>
          <p:cNvGraphicFramePr>
            <a:graphicFrameLocks noGrp="1"/>
          </p:cNvGraphicFramePr>
          <p:nvPr>
            <p:extLst>
              <p:ext uri="{D42A27DB-BD31-4B8C-83A1-F6EECF244321}">
                <p14:modId xmlns:p14="http://schemas.microsoft.com/office/powerpoint/2010/main" val="777739862"/>
              </p:ext>
            </p:extLst>
          </p:nvPr>
        </p:nvGraphicFramePr>
        <p:xfrm>
          <a:off x="2028092" y="2455147"/>
          <a:ext cx="8487507" cy="3364522"/>
        </p:xfrm>
        <a:graphic>
          <a:graphicData uri="http://schemas.openxmlformats.org/drawingml/2006/table">
            <a:tbl>
              <a:tblPr firstRow="1" firstCol="1" bandRow="1">
                <a:tableStyleId>{5C22544A-7EE6-4342-B048-85BDC9FD1C3A}</a:tableStyleId>
              </a:tblPr>
              <a:tblGrid>
                <a:gridCol w="2958226">
                  <a:extLst>
                    <a:ext uri="{9D8B030D-6E8A-4147-A177-3AD203B41FA5}">
                      <a16:colId xmlns:a16="http://schemas.microsoft.com/office/drawing/2014/main" val="2130618304"/>
                    </a:ext>
                  </a:extLst>
                </a:gridCol>
                <a:gridCol w="1218378">
                  <a:extLst>
                    <a:ext uri="{9D8B030D-6E8A-4147-A177-3AD203B41FA5}">
                      <a16:colId xmlns:a16="http://schemas.microsoft.com/office/drawing/2014/main" val="959669489"/>
                    </a:ext>
                  </a:extLst>
                </a:gridCol>
                <a:gridCol w="1219587">
                  <a:extLst>
                    <a:ext uri="{9D8B030D-6E8A-4147-A177-3AD203B41FA5}">
                      <a16:colId xmlns:a16="http://schemas.microsoft.com/office/drawing/2014/main" val="498283637"/>
                    </a:ext>
                  </a:extLst>
                </a:gridCol>
                <a:gridCol w="1297686">
                  <a:extLst>
                    <a:ext uri="{9D8B030D-6E8A-4147-A177-3AD203B41FA5}">
                      <a16:colId xmlns:a16="http://schemas.microsoft.com/office/drawing/2014/main" val="1323958693"/>
                    </a:ext>
                  </a:extLst>
                </a:gridCol>
                <a:gridCol w="963633">
                  <a:extLst>
                    <a:ext uri="{9D8B030D-6E8A-4147-A177-3AD203B41FA5}">
                      <a16:colId xmlns:a16="http://schemas.microsoft.com/office/drawing/2014/main" val="2934112591"/>
                    </a:ext>
                  </a:extLst>
                </a:gridCol>
                <a:gridCol w="829997">
                  <a:extLst>
                    <a:ext uri="{9D8B030D-6E8A-4147-A177-3AD203B41FA5}">
                      <a16:colId xmlns:a16="http://schemas.microsoft.com/office/drawing/2014/main" val="3837880027"/>
                    </a:ext>
                  </a:extLst>
                </a:gridCol>
              </a:tblGrid>
              <a:tr h="395787">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Model</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US" sz="2000" dirty="0">
                        <a:effectLst/>
                      </a:endParaRPr>
                    </a:p>
                    <a:p>
                      <a:pPr indent="144145" algn="just" hangingPunct="0">
                        <a:lnSpc>
                          <a:spcPts val="1200"/>
                        </a:lnSpc>
                        <a:buNone/>
                      </a:pPr>
                      <a:r>
                        <a:rPr lang="en-US" sz="2000" dirty="0">
                          <a:effectLst/>
                        </a:rPr>
                        <a:t>Accuracy</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US" sz="2000" dirty="0">
                        <a:effectLst/>
                      </a:endParaRPr>
                    </a:p>
                    <a:p>
                      <a:pPr indent="144145" algn="just" hangingPunct="0">
                        <a:lnSpc>
                          <a:spcPts val="1200"/>
                        </a:lnSpc>
                        <a:buNone/>
                      </a:pPr>
                      <a:r>
                        <a:rPr lang="en-US" sz="2000" dirty="0">
                          <a:effectLst/>
                        </a:rPr>
                        <a:t>F1 Score</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US" sz="2000" dirty="0">
                        <a:effectLst/>
                      </a:endParaRPr>
                    </a:p>
                    <a:p>
                      <a:pPr indent="144145" algn="just" hangingPunct="0">
                        <a:lnSpc>
                          <a:spcPts val="1200"/>
                        </a:lnSpc>
                        <a:buNone/>
                      </a:pPr>
                      <a:r>
                        <a:rPr lang="en-US" sz="2000" dirty="0">
                          <a:effectLst/>
                        </a:rPr>
                        <a:t>Precision</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US" sz="2000" dirty="0">
                        <a:effectLst/>
                      </a:endParaRPr>
                    </a:p>
                    <a:p>
                      <a:pPr indent="144145" algn="just" hangingPunct="0">
                        <a:lnSpc>
                          <a:spcPts val="1200"/>
                        </a:lnSpc>
                        <a:buNone/>
                      </a:pPr>
                      <a:r>
                        <a:rPr lang="en-US" sz="2000" dirty="0">
                          <a:effectLst/>
                        </a:rPr>
                        <a:t>Recall</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US" sz="2000" dirty="0">
                        <a:effectLst/>
                      </a:endParaRPr>
                    </a:p>
                    <a:p>
                      <a:pPr indent="144145" algn="just" hangingPunct="0">
                        <a:lnSpc>
                          <a:spcPts val="1200"/>
                        </a:lnSpc>
                        <a:buNone/>
                      </a:pPr>
                      <a:r>
                        <a:rPr lang="en-US" sz="2000" dirty="0">
                          <a:effectLst/>
                        </a:rPr>
                        <a:t>FAR</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28075343"/>
                  </a:ext>
                </a:extLst>
              </a:tr>
              <a:tr h="594011">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Original DLHA(NB+SVM)</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85.09</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79.98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76.08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85.09</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1.33</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47733085"/>
                  </a:ext>
                </a:extLst>
              </a:tr>
              <a:tr h="593681">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Decision Tree</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85.66</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81.64</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87.45</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85.66</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1.07</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90559471"/>
                  </a:ext>
                </a:extLst>
              </a:tr>
              <a:tr h="593681">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Random Forest</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a:effectLst/>
                      </a:endParaRPr>
                    </a:p>
                    <a:p>
                      <a:pPr indent="144145" algn="just" hangingPunct="0">
                        <a:lnSpc>
                          <a:spcPts val="1200"/>
                        </a:lnSpc>
                        <a:buNone/>
                      </a:pPr>
                      <a:r>
                        <a:rPr lang="en-IN" sz="2000">
                          <a:effectLst/>
                        </a:rPr>
                        <a:t>86.71 </a:t>
                      </a:r>
                    </a:p>
                    <a:p>
                      <a:pPr indent="144145" algn="just" hangingPunct="0">
                        <a:lnSpc>
                          <a:spcPts val="1200"/>
                        </a:lnSpc>
                        <a:buNone/>
                      </a:pPr>
                      <a:r>
                        <a:rPr lang="en-US" sz="200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a:effectLst/>
                      </a:endParaRPr>
                    </a:p>
                    <a:p>
                      <a:pPr indent="144145" algn="just" hangingPunct="0">
                        <a:lnSpc>
                          <a:spcPts val="1200"/>
                        </a:lnSpc>
                        <a:buNone/>
                      </a:pPr>
                      <a:r>
                        <a:rPr lang="en-IN" sz="2000">
                          <a:effectLst/>
                        </a:rPr>
                        <a:t>81.61</a:t>
                      </a:r>
                    </a:p>
                    <a:p>
                      <a:pPr indent="144145" algn="just" hangingPunct="0">
                        <a:lnSpc>
                          <a:spcPts val="1200"/>
                        </a:lnSpc>
                        <a:buNone/>
                      </a:pPr>
                      <a:r>
                        <a:rPr lang="en-US" sz="200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a:effectLst/>
                      </a:endParaRPr>
                    </a:p>
                    <a:p>
                      <a:pPr indent="144145" algn="just" hangingPunct="0">
                        <a:lnSpc>
                          <a:spcPts val="1200"/>
                        </a:lnSpc>
                        <a:buNone/>
                      </a:pPr>
                      <a:r>
                        <a:rPr lang="en-IN" sz="2000">
                          <a:effectLst/>
                        </a:rPr>
                        <a:t>82.52</a:t>
                      </a:r>
                    </a:p>
                    <a:p>
                      <a:pPr indent="144145" algn="just" hangingPunct="0">
                        <a:lnSpc>
                          <a:spcPts val="1200"/>
                        </a:lnSpc>
                        <a:buNone/>
                      </a:pPr>
                      <a:r>
                        <a:rPr lang="en-US" sz="200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a:effectLst/>
                      </a:endParaRPr>
                    </a:p>
                    <a:p>
                      <a:pPr indent="144145" algn="just" hangingPunct="0">
                        <a:lnSpc>
                          <a:spcPts val="1200"/>
                        </a:lnSpc>
                        <a:buNone/>
                      </a:pPr>
                      <a:r>
                        <a:rPr lang="en-IN" sz="2000">
                          <a:effectLst/>
                        </a:rPr>
                        <a:t>86.71</a:t>
                      </a:r>
                    </a:p>
                    <a:p>
                      <a:pPr indent="144145" algn="just" hangingPunct="0">
                        <a:lnSpc>
                          <a:spcPts val="1200"/>
                        </a:lnSpc>
                        <a:buNone/>
                      </a:pPr>
                      <a:r>
                        <a:rPr lang="en-US" sz="200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1.18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19721765"/>
                  </a:ext>
                </a:extLst>
              </a:tr>
              <a:tr h="593681">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Single-layer XG Boost</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86.08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80.92</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76.70</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86.08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1.29</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2722977"/>
                  </a:ext>
                </a:extLst>
              </a:tr>
              <a:tr h="593681">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Proposed DLHA (ours)</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85.38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80.20</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76.29</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85.38</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just" hangingPunct="0">
                        <a:lnSpc>
                          <a:spcPts val="1200"/>
                        </a:lnSpc>
                        <a:buNone/>
                      </a:pPr>
                      <a:endParaRPr lang="en-IN" sz="2000" dirty="0">
                        <a:effectLst/>
                      </a:endParaRPr>
                    </a:p>
                    <a:p>
                      <a:pPr indent="144145" algn="just" hangingPunct="0">
                        <a:lnSpc>
                          <a:spcPts val="1200"/>
                        </a:lnSpc>
                        <a:buNone/>
                      </a:pPr>
                      <a:r>
                        <a:rPr lang="en-IN" sz="2000" dirty="0">
                          <a:effectLst/>
                        </a:rPr>
                        <a:t>1.32</a:t>
                      </a:r>
                    </a:p>
                    <a:p>
                      <a:pPr indent="144145" algn="just" hangingPunct="0">
                        <a:lnSpc>
                          <a:spcPts val="1200"/>
                        </a:lnSpc>
                        <a:buNone/>
                      </a:pPr>
                      <a:r>
                        <a:rPr lang="en-US" sz="2000" dirty="0">
                          <a:effectLst/>
                        </a:rPr>
                        <a:t> </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0916943"/>
                  </a:ext>
                </a:extLst>
              </a:tr>
            </a:tbl>
          </a:graphicData>
        </a:graphic>
      </p:graphicFrame>
    </p:spTree>
    <p:extLst>
      <p:ext uri="{BB962C8B-B14F-4D97-AF65-F5344CB8AC3E}">
        <p14:creationId xmlns:p14="http://schemas.microsoft.com/office/powerpoint/2010/main" val="146729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1709098-AE75-F283-7BA3-823515881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36DFF-8D70-A713-93F7-0F22F2221275}"/>
              </a:ext>
            </a:extLst>
          </p:cNvPr>
          <p:cNvSpPr>
            <a:spLocks noGrp="1"/>
          </p:cNvSpPr>
          <p:nvPr>
            <p:ph type="title"/>
          </p:nvPr>
        </p:nvSpPr>
        <p:spPr>
          <a:xfrm>
            <a:off x="913795" y="390685"/>
            <a:ext cx="10353762" cy="1257300"/>
          </a:xfrm>
        </p:spPr>
        <p:txBody>
          <a:bodyPr>
            <a:normAutofit/>
          </a:bodyPr>
          <a:lstStyle/>
          <a:p>
            <a:pPr algn="l"/>
            <a:r>
              <a:rPr lang="en-IN" sz="4100" dirty="0">
                <a:solidFill>
                  <a:schemeClr val="bg1"/>
                </a:solidFill>
              </a:rPr>
              <a:t>ANALYSIS</a:t>
            </a:r>
          </a:p>
        </p:txBody>
      </p:sp>
      <p:graphicFrame>
        <p:nvGraphicFramePr>
          <p:cNvPr id="3" name="Table 2">
            <a:extLst>
              <a:ext uri="{FF2B5EF4-FFF2-40B4-BE49-F238E27FC236}">
                <a16:creationId xmlns:a16="http://schemas.microsoft.com/office/drawing/2014/main" id="{D6A1E6BD-9C32-A129-4C46-2131C975EECE}"/>
              </a:ext>
            </a:extLst>
          </p:cNvPr>
          <p:cNvGraphicFramePr>
            <a:graphicFrameLocks noGrp="1"/>
          </p:cNvGraphicFramePr>
          <p:nvPr>
            <p:extLst>
              <p:ext uri="{D42A27DB-BD31-4B8C-83A1-F6EECF244321}">
                <p14:modId xmlns:p14="http://schemas.microsoft.com/office/powerpoint/2010/main" val="2792213247"/>
              </p:ext>
            </p:extLst>
          </p:nvPr>
        </p:nvGraphicFramePr>
        <p:xfrm>
          <a:off x="7772401" y="2343150"/>
          <a:ext cx="3844088" cy="3035300"/>
        </p:xfrm>
        <a:graphic>
          <a:graphicData uri="http://schemas.openxmlformats.org/drawingml/2006/table">
            <a:tbl>
              <a:tblPr firstRow="1" firstCol="1" bandRow="1">
                <a:tableStyleId>{5C22544A-7EE6-4342-B048-85BDC9FD1C3A}</a:tableStyleId>
              </a:tblPr>
              <a:tblGrid>
                <a:gridCol w="973297">
                  <a:extLst>
                    <a:ext uri="{9D8B030D-6E8A-4147-A177-3AD203B41FA5}">
                      <a16:colId xmlns:a16="http://schemas.microsoft.com/office/drawing/2014/main" val="3271494903"/>
                    </a:ext>
                  </a:extLst>
                </a:gridCol>
                <a:gridCol w="1447986">
                  <a:extLst>
                    <a:ext uri="{9D8B030D-6E8A-4147-A177-3AD203B41FA5}">
                      <a16:colId xmlns:a16="http://schemas.microsoft.com/office/drawing/2014/main" val="1559280165"/>
                    </a:ext>
                  </a:extLst>
                </a:gridCol>
                <a:gridCol w="1422805">
                  <a:extLst>
                    <a:ext uri="{9D8B030D-6E8A-4147-A177-3AD203B41FA5}">
                      <a16:colId xmlns:a16="http://schemas.microsoft.com/office/drawing/2014/main" val="2442695339"/>
                    </a:ext>
                  </a:extLst>
                </a:gridCol>
              </a:tblGrid>
              <a:tr h="6858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Class</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Original </a:t>
                      </a:r>
                    </a:p>
                    <a:p>
                      <a:pPr algn="just" hangingPunct="0">
                        <a:lnSpc>
                          <a:spcPts val="1200"/>
                        </a:lnSpc>
                        <a:buNone/>
                      </a:pPr>
                      <a:endParaRPr lang="en-US" sz="2000" dirty="0">
                        <a:effectLst/>
                      </a:endParaRPr>
                    </a:p>
                    <a:p>
                      <a:pPr algn="just" hangingPunct="0">
                        <a:lnSpc>
                          <a:spcPts val="1200"/>
                        </a:lnSpc>
                        <a:buNone/>
                      </a:pPr>
                      <a:r>
                        <a:rPr lang="en-US" sz="2000" dirty="0">
                          <a:effectLst/>
                        </a:rPr>
                        <a:t>DLHA</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Proposed </a:t>
                      </a:r>
                    </a:p>
                    <a:p>
                      <a:pPr algn="just" hangingPunct="0">
                        <a:lnSpc>
                          <a:spcPts val="1200"/>
                        </a:lnSpc>
                        <a:buNone/>
                      </a:pPr>
                      <a:endParaRPr lang="en-US" sz="2000" dirty="0">
                        <a:effectLst/>
                      </a:endParaRPr>
                    </a:p>
                    <a:p>
                      <a:pPr algn="just" hangingPunct="0">
                        <a:lnSpc>
                          <a:spcPts val="1200"/>
                        </a:lnSpc>
                        <a:buNone/>
                      </a:pPr>
                      <a:r>
                        <a:rPr lang="en-US" sz="2000" dirty="0">
                          <a:effectLst/>
                        </a:rPr>
                        <a:t>DLHA</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49690106"/>
                  </a:ext>
                </a:extLst>
              </a:tr>
              <a:tr h="4699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DoS</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92.4%</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IN" sz="2000" dirty="0">
                        <a:effectLst/>
                      </a:endParaRPr>
                    </a:p>
                    <a:p>
                      <a:pPr algn="just" hangingPunct="0">
                        <a:lnSpc>
                          <a:spcPts val="1200"/>
                        </a:lnSpc>
                        <a:buNone/>
                      </a:pPr>
                      <a:r>
                        <a:rPr lang="en-IN" sz="2000" dirty="0">
                          <a:effectLst/>
                        </a:rPr>
                        <a:t>92.60%</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80915623"/>
                  </a:ext>
                </a:extLst>
              </a:tr>
              <a:tr h="4699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Probe</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90.8%</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IN" sz="2000" dirty="0">
                        <a:effectLst/>
                      </a:endParaRPr>
                    </a:p>
                    <a:p>
                      <a:pPr algn="just" hangingPunct="0">
                        <a:lnSpc>
                          <a:spcPts val="1200"/>
                        </a:lnSpc>
                        <a:buNone/>
                      </a:pPr>
                      <a:r>
                        <a:rPr lang="en-IN" sz="2000" dirty="0">
                          <a:effectLst/>
                        </a:rPr>
                        <a:t>97.96%</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73011879"/>
                  </a:ext>
                </a:extLst>
              </a:tr>
              <a:tr h="4699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R2L</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74.67%</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IN" sz="2000" dirty="0">
                        <a:effectLst/>
                      </a:endParaRPr>
                    </a:p>
                    <a:p>
                      <a:pPr algn="just" hangingPunct="0">
                        <a:lnSpc>
                          <a:spcPts val="1200"/>
                        </a:lnSpc>
                        <a:buNone/>
                      </a:pPr>
                      <a:r>
                        <a:rPr lang="en-IN" sz="2000" dirty="0">
                          <a:effectLst/>
                        </a:rPr>
                        <a:t>89.16%</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65718050"/>
                  </a:ext>
                </a:extLst>
              </a:tr>
              <a:tr h="4699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U2R</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55.0%</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IN" sz="2000" dirty="0">
                        <a:effectLst/>
                      </a:endParaRPr>
                    </a:p>
                    <a:p>
                      <a:pPr algn="just" hangingPunct="0">
                        <a:lnSpc>
                          <a:spcPts val="1200"/>
                        </a:lnSpc>
                        <a:buNone/>
                      </a:pPr>
                      <a:r>
                        <a:rPr lang="en-IN" sz="2000" dirty="0">
                          <a:effectLst/>
                        </a:rPr>
                        <a:t>60.42%</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46127064"/>
                  </a:ext>
                </a:extLst>
              </a:tr>
              <a:tr h="469900">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Normal</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85.3%</a:t>
                      </a:r>
                      <a:endParaRPr lang="en-IN"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hangingPunct="0">
                        <a:lnSpc>
                          <a:spcPts val="1200"/>
                        </a:lnSpc>
                        <a:buNone/>
                      </a:pPr>
                      <a:endParaRPr lang="en-US" sz="2000" dirty="0">
                        <a:effectLst/>
                      </a:endParaRPr>
                    </a:p>
                    <a:p>
                      <a:pPr algn="just" hangingPunct="0">
                        <a:lnSpc>
                          <a:spcPts val="1200"/>
                        </a:lnSpc>
                        <a:buNone/>
                      </a:pPr>
                      <a:r>
                        <a:rPr lang="en-US" sz="2000" dirty="0">
                          <a:effectLst/>
                        </a:rPr>
                        <a:t>92.0%</a:t>
                      </a:r>
                      <a:endParaRPr lang="en-IN"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6303216"/>
                  </a:ext>
                </a:extLst>
              </a:tr>
            </a:tbl>
          </a:graphicData>
        </a:graphic>
      </p:graphicFrame>
      <p:pic>
        <p:nvPicPr>
          <p:cNvPr id="4" name="Picture 3">
            <a:extLst>
              <a:ext uri="{FF2B5EF4-FFF2-40B4-BE49-F238E27FC236}">
                <a16:creationId xmlns:a16="http://schemas.microsoft.com/office/drawing/2014/main" id="{E18E424A-601E-8FD1-5F92-CE1CC763E7D4}"/>
              </a:ext>
            </a:extLst>
          </p:cNvPr>
          <p:cNvPicPr>
            <a:picLocks noChangeAspect="1"/>
          </p:cNvPicPr>
          <p:nvPr/>
        </p:nvPicPr>
        <p:blipFill>
          <a:blip r:embed="rId2"/>
          <a:stretch>
            <a:fillRect/>
          </a:stretch>
        </p:blipFill>
        <p:spPr>
          <a:xfrm>
            <a:off x="575511" y="1828801"/>
            <a:ext cx="6456479" cy="4381500"/>
          </a:xfrm>
          <a:prstGeom prst="rect">
            <a:avLst/>
          </a:prstGeom>
        </p:spPr>
      </p:pic>
    </p:spTree>
    <p:extLst>
      <p:ext uri="{BB962C8B-B14F-4D97-AF65-F5344CB8AC3E}">
        <p14:creationId xmlns:p14="http://schemas.microsoft.com/office/powerpoint/2010/main" val="334924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71E2E9-A8C8-1FDC-C447-A0D4F4D5D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6E5D6-F1CD-C9C3-6274-6068757CCDA9}"/>
              </a:ext>
            </a:extLst>
          </p:cNvPr>
          <p:cNvSpPr>
            <a:spLocks noGrp="1"/>
          </p:cNvSpPr>
          <p:nvPr>
            <p:ph type="title"/>
          </p:nvPr>
        </p:nvSpPr>
        <p:spPr>
          <a:xfrm>
            <a:off x="913795" y="390685"/>
            <a:ext cx="10353762" cy="1257300"/>
          </a:xfrm>
        </p:spPr>
        <p:txBody>
          <a:bodyPr>
            <a:normAutofit/>
          </a:bodyPr>
          <a:lstStyle/>
          <a:p>
            <a:pPr algn="l"/>
            <a:r>
              <a:rPr lang="en-IN" sz="4100" dirty="0">
                <a:solidFill>
                  <a:schemeClr val="bg1"/>
                </a:solidFill>
              </a:rPr>
              <a:t>ANALYSIS</a:t>
            </a:r>
          </a:p>
        </p:txBody>
      </p:sp>
      <p:pic>
        <p:nvPicPr>
          <p:cNvPr id="5" name="Picture 4">
            <a:extLst>
              <a:ext uri="{FF2B5EF4-FFF2-40B4-BE49-F238E27FC236}">
                <a16:creationId xmlns:a16="http://schemas.microsoft.com/office/drawing/2014/main" id="{A200EA34-9878-00DA-CA51-6D3D2D66A4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4443" y="1543050"/>
            <a:ext cx="10251223" cy="4997800"/>
          </a:xfrm>
          <a:prstGeom prst="rect">
            <a:avLst/>
          </a:prstGeom>
        </p:spPr>
      </p:pic>
    </p:spTree>
    <p:extLst>
      <p:ext uri="{BB962C8B-B14F-4D97-AF65-F5344CB8AC3E}">
        <p14:creationId xmlns:p14="http://schemas.microsoft.com/office/powerpoint/2010/main" val="3279581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81E7A40-1547-1EA8-473A-77CDA2E81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45586-5253-D1D0-124E-B029D51A216E}"/>
              </a:ext>
            </a:extLst>
          </p:cNvPr>
          <p:cNvSpPr>
            <a:spLocks noGrp="1"/>
          </p:cNvSpPr>
          <p:nvPr>
            <p:ph type="title"/>
          </p:nvPr>
        </p:nvSpPr>
        <p:spPr/>
        <p:txBody>
          <a:bodyPr>
            <a:normAutofit/>
          </a:bodyPr>
          <a:lstStyle/>
          <a:p>
            <a:pPr algn="l"/>
            <a:r>
              <a:rPr lang="en-IN" sz="4100" dirty="0">
                <a:solidFill>
                  <a:schemeClr val="bg1"/>
                </a:solidFill>
              </a:rPr>
              <a:t>CONCLUSION</a:t>
            </a:r>
          </a:p>
        </p:txBody>
      </p:sp>
      <p:sp>
        <p:nvSpPr>
          <p:cNvPr id="3" name="Content Placeholder 2">
            <a:extLst>
              <a:ext uri="{FF2B5EF4-FFF2-40B4-BE49-F238E27FC236}">
                <a16:creationId xmlns:a16="http://schemas.microsoft.com/office/drawing/2014/main" id="{D655B93E-E131-A171-CA01-EF8D6E195047}"/>
              </a:ext>
            </a:extLst>
          </p:cNvPr>
          <p:cNvSpPr>
            <a:spLocks noGrp="1"/>
          </p:cNvSpPr>
          <p:nvPr>
            <p:ph idx="1"/>
          </p:nvPr>
        </p:nvSpPr>
        <p:spPr/>
        <p:txBody>
          <a:bodyPr>
            <a:normAutofit/>
          </a:bodyPr>
          <a:lstStyle/>
          <a:p>
            <a:r>
              <a:rPr lang="en-US" sz="2200" dirty="0">
                <a:solidFill>
                  <a:schemeClr val="tx2">
                    <a:lumMod val="10000"/>
                  </a:schemeClr>
                </a:solidFill>
                <a:effectLst/>
              </a:rPr>
              <a:t>Enhanced Detection with GANs: Using GAN-based data augmentation significantly improves the detection of rare attacks like R2L and U2R.</a:t>
            </a:r>
          </a:p>
          <a:p>
            <a:r>
              <a:rPr lang="en-US" sz="2200" dirty="0">
                <a:solidFill>
                  <a:schemeClr val="tx2">
                    <a:lumMod val="10000"/>
                  </a:schemeClr>
                </a:solidFill>
                <a:effectLst/>
              </a:rPr>
              <a:t>Performance Boost with </a:t>
            </a:r>
            <a:r>
              <a:rPr lang="en-US" sz="2200" dirty="0" err="1">
                <a:solidFill>
                  <a:schemeClr val="tx2">
                    <a:lumMod val="10000"/>
                  </a:schemeClr>
                </a:solidFill>
                <a:effectLst/>
              </a:rPr>
              <a:t>XGBoost</a:t>
            </a:r>
            <a:r>
              <a:rPr lang="en-US" sz="2200" dirty="0">
                <a:solidFill>
                  <a:schemeClr val="tx2">
                    <a:lumMod val="10000"/>
                  </a:schemeClr>
                </a:solidFill>
                <a:effectLst/>
              </a:rPr>
              <a:t>: Replacing SVM with </a:t>
            </a:r>
            <a:r>
              <a:rPr lang="en-US" sz="2200" dirty="0" err="1">
                <a:solidFill>
                  <a:schemeClr val="tx2">
                    <a:lumMod val="10000"/>
                  </a:schemeClr>
                </a:solidFill>
                <a:effectLst/>
              </a:rPr>
              <a:t>XGBoost</a:t>
            </a:r>
            <a:r>
              <a:rPr lang="en-US" sz="2200" dirty="0">
                <a:solidFill>
                  <a:schemeClr val="tx2">
                    <a:lumMod val="10000"/>
                  </a:schemeClr>
                </a:solidFill>
                <a:effectLst/>
              </a:rPr>
              <a:t> results in better performance and efficiency in the IDS framework. </a:t>
            </a:r>
          </a:p>
          <a:p>
            <a:r>
              <a:rPr lang="en-US" sz="2200" dirty="0">
                <a:solidFill>
                  <a:schemeClr val="tx2">
                    <a:lumMod val="10000"/>
                  </a:schemeClr>
                </a:solidFill>
                <a:effectLst/>
              </a:rPr>
              <a:t>Robust Real-World Readiness: The proposed DLHA model outperforms existing systems across all standard metrics and is well-suited for deployment in sensitive environments like cloud infrastructures and defense networks.</a:t>
            </a:r>
          </a:p>
        </p:txBody>
      </p:sp>
    </p:spTree>
    <p:extLst>
      <p:ext uri="{BB962C8B-B14F-4D97-AF65-F5344CB8AC3E}">
        <p14:creationId xmlns:p14="http://schemas.microsoft.com/office/powerpoint/2010/main" val="1002059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CB0042F-3506-12AB-22FC-5D0927C28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8A264-39D3-6573-BBFE-3027E40A601B}"/>
              </a:ext>
            </a:extLst>
          </p:cNvPr>
          <p:cNvSpPr>
            <a:spLocks noGrp="1"/>
          </p:cNvSpPr>
          <p:nvPr>
            <p:ph type="title"/>
          </p:nvPr>
        </p:nvSpPr>
        <p:spPr/>
        <p:txBody>
          <a:bodyPr>
            <a:normAutofit/>
          </a:bodyPr>
          <a:lstStyle/>
          <a:p>
            <a:pPr algn="l"/>
            <a:r>
              <a:rPr lang="en-IN" sz="4100" dirty="0">
                <a:solidFill>
                  <a:schemeClr val="bg1"/>
                </a:solidFill>
              </a:rPr>
              <a:t>FUTURE SCOPE</a:t>
            </a:r>
          </a:p>
        </p:txBody>
      </p:sp>
      <p:sp>
        <p:nvSpPr>
          <p:cNvPr id="3" name="Content Placeholder 2">
            <a:extLst>
              <a:ext uri="{FF2B5EF4-FFF2-40B4-BE49-F238E27FC236}">
                <a16:creationId xmlns:a16="http://schemas.microsoft.com/office/drawing/2014/main" id="{5657D5BA-04F0-D7BF-5631-CB2DADC4011E}"/>
              </a:ext>
            </a:extLst>
          </p:cNvPr>
          <p:cNvSpPr>
            <a:spLocks noGrp="1"/>
          </p:cNvSpPr>
          <p:nvPr>
            <p:ph idx="1"/>
          </p:nvPr>
        </p:nvSpPr>
        <p:spPr/>
        <p:txBody>
          <a:bodyPr>
            <a:normAutofit/>
          </a:bodyPr>
          <a:lstStyle/>
          <a:p>
            <a:r>
              <a:rPr lang="en-US" sz="2200" dirty="0">
                <a:solidFill>
                  <a:schemeClr val="tx2">
                    <a:lumMod val="10000"/>
                  </a:schemeClr>
                </a:solidFill>
                <a:effectLst/>
              </a:rPr>
              <a:t>Smarter and Adaptive Learning: Future enhancements include integrating deep learning models like LSTM/Transformers and enabling real-time (online) learning to improve temporal and adaptive detection capabilities.</a:t>
            </a:r>
          </a:p>
          <a:p>
            <a:r>
              <a:rPr lang="en-US" sz="2200" dirty="0">
                <a:solidFill>
                  <a:schemeClr val="tx2">
                    <a:lumMod val="10000"/>
                  </a:schemeClr>
                </a:solidFill>
                <a:effectLst/>
              </a:rPr>
              <a:t>Privacy-Preserving Scalability: Deploying the IDS in a federated learning environment to ensure secure, distributed intelligence without compromising data privacy.</a:t>
            </a:r>
          </a:p>
          <a:p>
            <a:r>
              <a:rPr lang="en-US" sz="2200" dirty="0">
                <a:solidFill>
                  <a:schemeClr val="tx2">
                    <a:lumMod val="10000"/>
                  </a:schemeClr>
                </a:solidFill>
                <a:effectLst/>
              </a:rPr>
              <a:t>Improved Usability and Security: Adding a real-time visualization dashboard for better monitoring and testing the system’s robustness against adversarial attacks for enhanced reliability.</a:t>
            </a:r>
          </a:p>
          <a:p>
            <a:endParaRPr lang="en-US" dirty="0">
              <a:solidFill>
                <a:schemeClr val="tx2">
                  <a:lumMod val="10000"/>
                </a:schemeClr>
              </a:solidFill>
            </a:endParaRPr>
          </a:p>
        </p:txBody>
      </p:sp>
    </p:spTree>
    <p:extLst>
      <p:ext uri="{BB962C8B-B14F-4D97-AF65-F5344CB8AC3E}">
        <p14:creationId xmlns:p14="http://schemas.microsoft.com/office/powerpoint/2010/main" val="3668575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A3DFAA-C00D-84A9-BCF4-ED5939027F62}"/>
              </a:ext>
            </a:extLst>
          </p:cNvPr>
          <p:cNvSpPr txBox="1"/>
          <p:nvPr/>
        </p:nvSpPr>
        <p:spPr>
          <a:xfrm>
            <a:off x="3952240" y="2998113"/>
            <a:ext cx="4135120" cy="861774"/>
          </a:xfrm>
          <a:prstGeom prst="rect">
            <a:avLst/>
          </a:prstGeom>
          <a:noFill/>
        </p:spPr>
        <p:txBody>
          <a:bodyPr wrap="square" rtlCol="0">
            <a:spAutoFit/>
          </a:bodyPr>
          <a:lstStyle/>
          <a:p>
            <a:r>
              <a:rPr lang="en-IN" sz="5000" dirty="0">
                <a:solidFill>
                  <a:schemeClr val="bg1"/>
                </a:solidFill>
              </a:rPr>
              <a:t>THANK YOU</a:t>
            </a:r>
          </a:p>
        </p:txBody>
      </p:sp>
    </p:spTree>
    <p:extLst>
      <p:ext uri="{BB962C8B-B14F-4D97-AF65-F5344CB8AC3E}">
        <p14:creationId xmlns:p14="http://schemas.microsoft.com/office/powerpoint/2010/main" val="1655295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549A4C45048EA43A21641D7D6FAA6C7" ma:contentTypeVersion="8" ma:contentTypeDescription="Create a new document." ma:contentTypeScope="" ma:versionID="0b00571699291e7e69ea9ce0624b8848">
  <xsd:schema xmlns:xsd="http://www.w3.org/2001/XMLSchema" xmlns:xs="http://www.w3.org/2001/XMLSchema" xmlns:p="http://schemas.microsoft.com/office/2006/metadata/properties" xmlns:ns2="66cd4010-d172-4c6b-af62-88acc1255986" targetNamespace="http://schemas.microsoft.com/office/2006/metadata/properties" ma:root="true" ma:fieldsID="100bbadf87e0edcaea24642f39be74f6" ns2:_="">
    <xsd:import namespace="66cd4010-d172-4c6b-af62-88acc125598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cd4010-d172-4c6b-af62-88acc12559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C6F4B649-7FCB-48B8-835D-77AD2C565B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cd4010-d172-4c6b-af62-88acc12559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B270AB-C138-415C-897E-3C24487DEC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{F275A881-034F-401B-A247-6A24F7C8CEC9}tf55705232_win32</Template>
  <TotalTime>4518</TotalTime>
  <Words>1487</Words>
  <Application>Microsoft Office PowerPoint</Application>
  <PresentationFormat>Widescreen</PresentationFormat>
  <Paragraphs>269</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Bell MT</vt:lpstr>
      <vt:lpstr>Calibri</vt:lpstr>
      <vt:lpstr>Candara</vt:lpstr>
      <vt:lpstr>Goudy Old Style</vt:lpstr>
      <vt:lpstr>Nunito</vt:lpstr>
      <vt:lpstr>Times New Roman</vt:lpstr>
      <vt:lpstr>Wingdings 2</vt:lpstr>
      <vt:lpstr>SlateVTI</vt:lpstr>
      <vt:lpstr>Layered Security-Gradient Boosting meets Naive Bayes for Intrusion Detection</vt:lpstr>
      <vt:lpstr>INTRODUCTION</vt:lpstr>
      <vt:lpstr>MOTIVATION</vt:lpstr>
      <vt:lpstr>DATASET DESCRIPTION </vt:lpstr>
      <vt:lpstr>DATASET DESCRIPTION </vt:lpstr>
      <vt:lpstr>DATASET DESCRIPTION </vt:lpstr>
      <vt:lpstr>LIMITATIONS</vt:lpstr>
      <vt:lpstr>OBJECTIVES</vt:lpstr>
      <vt:lpstr>        SYSTEM ARCHITECTURE DIAGRAM</vt:lpstr>
      <vt:lpstr>        W-GAN ARCHITECTURE DIAGRAM</vt:lpstr>
      <vt:lpstr>EXPLANATION</vt:lpstr>
      <vt:lpstr>EXPLANATION</vt:lpstr>
      <vt:lpstr>        EVALUATION METRICS</vt:lpstr>
      <vt:lpstr>RESULTS</vt:lpstr>
      <vt:lpstr>RESULTS</vt:lpstr>
      <vt:lpstr>ANALYSIS</vt:lpstr>
      <vt:lpstr>ANALYSIS</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goutham vempati</dc:creator>
  <cp:lastModifiedBy>21-737-026_KRISHNA SAI SRINIVAS</cp:lastModifiedBy>
  <cp:revision>24</cp:revision>
  <dcterms:created xsi:type="dcterms:W3CDTF">2023-09-21T15:31:31Z</dcterms:created>
  <dcterms:modified xsi:type="dcterms:W3CDTF">2025-09-07T02:45:40Z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0x010100B549A4C45048EA43A21641D7D6FAA6C7</vt:lpwstr>
  </property>
</Properties>
</file>